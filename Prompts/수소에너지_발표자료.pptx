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828800"/>
            <a:ext cx="12191695" cy="73152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2194560"/>
            <a:ext cx="9418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맑은 고딕"/>
              </a:rPr>
              <a:t>수소 에너지의 현재와 미래</a:t>
            </a:r>
          </a:p>
          <a:p>
            <a:pPr algn="ctr">
              <a:spcBef>
                <a:spcPts val="1200"/>
              </a:spcBef>
            </a:pPr>
            <a:r>
              <a:rPr sz="2000" b="0">
                <a:solidFill>
                  <a:srgbClr val="2ECC71"/>
                </a:solidFill>
                <a:latin typeface="맑은 고딕"/>
              </a:rPr>
              <a:t>The Present and Future of Hydrogen Energy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3840480"/>
            <a:ext cx="12191695" cy="73152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4389120"/>
            <a:ext cx="9418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BBBBBB"/>
                </a:solidFill>
                <a:latin typeface="맑은 고딕"/>
              </a:rPr>
              <a:t>수소 에너지 도서 3권 분석 기반 종합 발표</a:t>
            </a:r>
          </a:p>
          <a:p>
            <a:pPr algn="ctr">
              <a:spcBef>
                <a:spcPts val="1600"/>
              </a:spcBef>
            </a:pPr>
            <a:r>
              <a:rPr sz="1400" b="0">
                <a:solidFill>
                  <a:srgbClr val="999999"/>
                </a:solidFill>
                <a:latin typeface="맑은 고딕"/>
              </a:rPr>
              <a:t>2026.02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54864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목차  |  Table of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492240"/>
            <a:ext cx="11277295" cy="18288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맑은 고딕"/>
              </a:rPr>
              <a:t>2 / 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50292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2ECC71"/>
                </a:solidFill>
                <a:latin typeface="맑은 고딕"/>
              </a:rPr>
              <a:t>  01   </a:t>
            </a:r>
            <a:r>
              <a:rPr sz="1500" b="0">
                <a:solidFill>
                  <a:srgbClr val="333333"/>
                </a:solidFill>
                <a:latin typeface="맑은 고딕"/>
              </a:rPr>
              <a:t>왜 수소인가?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029968"/>
            <a:ext cx="50292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2ECC71"/>
                </a:solidFill>
                <a:latin typeface="맑은 고딕"/>
              </a:rPr>
              <a:t>  02   </a:t>
            </a:r>
            <a:r>
              <a:rPr sz="1500" b="0">
                <a:solidFill>
                  <a:srgbClr val="333333"/>
                </a:solidFill>
                <a:latin typeface="맑은 고딕"/>
              </a:rPr>
              <a:t>수소의 종류 (색깔별 분류)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596896"/>
            <a:ext cx="50292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2ECC71"/>
                </a:solidFill>
                <a:latin typeface="맑은 고딕"/>
              </a:rPr>
              <a:t>  03   </a:t>
            </a:r>
            <a:r>
              <a:rPr sz="1500" b="0">
                <a:solidFill>
                  <a:srgbClr val="333333"/>
                </a:solidFill>
                <a:latin typeface="맑은 고딕"/>
              </a:rPr>
              <a:t>수소 가치사슬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163824"/>
            <a:ext cx="50292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2ECC71"/>
                </a:solidFill>
                <a:latin typeface="맑은 고딕"/>
              </a:rPr>
              <a:t>  04   </a:t>
            </a:r>
            <a:r>
              <a:rPr sz="1500" b="0">
                <a:solidFill>
                  <a:srgbClr val="333333"/>
                </a:solidFill>
                <a:latin typeface="맑은 고딕"/>
              </a:rPr>
              <a:t>생산 기술 (수전해 비교)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730752"/>
            <a:ext cx="50292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2ECC71"/>
                </a:solidFill>
                <a:latin typeface="맑은 고딕"/>
              </a:rPr>
              <a:t>  05   </a:t>
            </a:r>
            <a:r>
              <a:rPr sz="1500" b="0">
                <a:solidFill>
                  <a:srgbClr val="333333"/>
                </a:solidFill>
                <a:latin typeface="맑은 고딕"/>
              </a:rPr>
              <a:t>저장 · 운송 기술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297680"/>
            <a:ext cx="50292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2ECC71"/>
                </a:solidFill>
                <a:latin typeface="맑은 고딕"/>
              </a:rPr>
              <a:t>  06   </a:t>
            </a:r>
            <a:r>
              <a:rPr sz="1500" b="0">
                <a:solidFill>
                  <a:srgbClr val="333333"/>
                </a:solidFill>
                <a:latin typeface="맑은 고딕"/>
              </a:rPr>
              <a:t>활용 분야 · 섹터 커플링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864608"/>
            <a:ext cx="50292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2ECC71"/>
                </a:solidFill>
                <a:latin typeface="맑은 고딕"/>
              </a:rPr>
              <a:t>  07   </a:t>
            </a:r>
            <a:r>
              <a:rPr sz="1500" b="0">
                <a:solidFill>
                  <a:srgbClr val="333333"/>
                </a:solidFill>
                <a:latin typeface="맑은 고딕"/>
              </a:rPr>
              <a:t>수소 vs 배터리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5431536"/>
            <a:ext cx="50292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2ECC71"/>
                </a:solidFill>
                <a:latin typeface="맑은 고딕"/>
              </a:rPr>
              <a:t>  08   </a:t>
            </a:r>
            <a:r>
              <a:rPr sz="1500" b="0">
                <a:solidFill>
                  <a:srgbClr val="333333"/>
                </a:solidFill>
                <a:latin typeface="맑은 고딕"/>
              </a:rPr>
              <a:t>글로벌 수소 시장 전망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0" y="1463040"/>
            <a:ext cx="50292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2ECC71"/>
                </a:solidFill>
                <a:latin typeface="맑은 고딕"/>
              </a:rPr>
              <a:t>  09   </a:t>
            </a:r>
            <a:r>
              <a:rPr sz="1500" b="0">
                <a:solidFill>
                  <a:srgbClr val="333333"/>
                </a:solidFill>
                <a:latin typeface="맑은 고딕"/>
              </a:rPr>
              <a:t>미국 수소 전략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2029968"/>
            <a:ext cx="50292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2ECC71"/>
                </a:solidFill>
                <a:latin typeface="맑은 고딕"/>
              </a:rPr>
              <a:t>  10   </a:t>
            </a:r>
            <a:r>
              <a:rPr sz="1500" b="0">
                <a:solidFill>
                  <a:srgbClr val="333333"/>
                </a:solidFill>
                <a:latin typeface="맑은 고딕"/>
              </a:rPr>
              <a:t>유럽 수소 전략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0" y="2596896"/>
            <a:ext cx="50292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2ECC71"/>
                </a:solidFill>
                <a:latin typeface="맑은 고딕"/>
              </a:rPr>
              <a:t>  11   </a:t>
            </a:r>
            <a:r>
              <a:rPr sz="1500" b="0">
                <a:solidFill>
                  <a:srgbClr val="333333"/>
                </a:solidFill>
                <a:latin typeface="맑은 고딕"/>
              </a:rPr>
              <a:t>중국 · 중동 수소 전략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3163824"/>
            <a:ext cx="50292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2ECC71"/>
                </a:solidFill>
                <a:latin typeface="맑은 고딕"/>
              </a:rPr>
              <a:t>  12   </a:t>
            </a:r>
            <a:r>
              <a:rPr sz="1500" b="0">
                <a:solidFill>
                  <a:srgbClr val="333333"/>
                </a:solidFill>
                <a:latin typeface="맑은 고딕"/>
              </a:rPr>
              <a:t>한국 수소 정책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3730752"/>
            <a:ext cx="50292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2ECC71"/>
                </a:solidFill>
                <a:latin typeface="맑은 고딕"/>
              </a:rPr>
              <a:t>  13   </a:t>
            </a:r>
            <a:r>
              <a:rPr sz="1500" b="0">
                <a:solidFill>
                  <a:srgbClr val="333333"/>
                </a:solidFill>
                <a:latin typeface="맑은 고딕"/>
              </a:rPr>
              <a:t>한국 기업 투자 현황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0" y="4297680"/>
            <a:ext cx="50292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2ECC71"/>
                </a:solidFill>
                <a:latin typeface="맑은 고딕"/>
              </a:rPr>
              <a:t>  14   </a:t>
            </a:r>
            <a:r>
              <a:rPr sz="1500" b="0">
                <a:solidFill>
                  <a:srgbClr val="333333"/>
                </a:solidFill>
                <a:latin typeface="맑은 고딕"/>
              </a:rPr>
              <a:t>수소 경제 핵심 수치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17920" y="4864608"/>
            <a:ext cx="50292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2ECC71"/>
                </a:solidFill>
                <a:latin typeface="맑은 고딕"/>
              </a:rPr>
              <a:t>  15   </a:t>
            </a:r>
            <a:r>
              <a:rPr sz="1500" b="0">
                <a:solidFill>
                  <a:srgbClr val="333333"/>
                </a:solidFill>
                <a:latin typeface="맑은 고딕"/>
              </a:rPr>
              <a:t>도전과 과제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17920" y="5431536"/>
            <a:ext cx="50292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2ECC71"/>
                </a:solidFill>
                <a:latin typeface="맑은 고딕"/>
              </a:rPr>
              <a:t>  16   </a:t>
            </a:r>
            <a:r>
              <a:rPr sz="1500" b="0">
                <a:solidFill>
                  <a:srgbClr val="333333"/>
                </a:solidFill>
                <a:latin typeface="맑은 고딕"/>
              </a:rPr>
              <a:t>결론 및 시사점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54864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왜 수소인가?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492240"/>
            <a:ext cx="11277295" cy="18288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맑은 고딕"/>
              </a:rPr>
              <a:t>3 / 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1B3A5C"/>
                </a:solidFill>
                <a:latin typeface="맑은 고딕"/>
              </a:rPr>
              <a:t>수소(H2)는 우주에서 가장 풍부한 원소이자 궁극의 청정 에너지원</a:t>
            </a:r>
          </a:p>
          <a:p>
            <a:pPr lvl="1" algn="l"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맑은 고딕"/>
              </a:rPr>
              <a:t>연소 시 물(H2O)만 생성 — CO2 배출 제로</a:t>
            </a:r>
          </a:p>
          <a:p>
            <a:pPr lvl="1" algn="l"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맑은 고딕"/>
              </a:rPr>
              <a:t>에너지 저장 매체이자 탄소 없는 연료 (이중 역할)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333333"/>
                </a:solidFill>
                <a:latin typeface="맑은 고딕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700" b="1">
                <a:solidFill>
                  <a:srgbClr val="1B3A5C"/>
                </a:solidFill>
                <a:latin typeface="맑은 고딕"/>
              </a:rPr>
              <a:t>재생에너지만으로는 탄소중립 불가능</a:t>
            </a:r>
          </a:p>
          <a:p>
            <a:pPr lvl="1" algn="l"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맑은 고딕"/>
              </a:rPr>
              <a:t>태양광/풍력은 전력만 담당 — 총 에너지의 50%는 전기화 불가 (중공업, 장거리 수송, 계절저장)</a:t>
            </a:r>
          </a:p>
          <a:p>
            <a:pPr lvl="1" algn="l"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맑은 고딕"/>
              </a:rPr>
              <a:t>배터리 한계: EV 배터리 ~450kg, 대형 트럭용은 ~4,500kg → 적재 불가</a:t>
            </a:r>
          </a:p>
          <a:p>
            <a:pPr lvl="1" algn="l"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맑은 고딕"/>
              </a:rPr>
              <a:t>계절 저장(여름 잉여 → 겨울 수요): 배터리로는 물리적으로 불가능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333333"/>
                </a:solidFill>
                <a:latin typeface="맑은 고딕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700" b="1">
                <a:solidFill>
                  <a:srgbClr val="1B3A5C"/>
                </a:solidFill>
                <a:latin typeface="맑은 고딕"/>
              </a:rPr>
              <a:t>수소 + 전기 = '파워 커플'</a:t>
            </a:r>
          </a:p>
          <a:p>
            <a:pPr lvl="1" algn="l"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맑은 고딕"/>
              </a:rPr>
              <a:t>전기: 가정, 경차량  |  수소: 중공업, 장거리 수송, 계절 저장, 화학 공정</a:t>
            </a:r>
          </a:p>
          <a:p>
            <a:pPr lvl="1" algn="l"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맑은 고딕"/>
              </a:rPr>
              <a:t>섹터 커플링: 전기·수송·산업·난방을 하나로 연결하는 '만능 에너지 캐리어'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371600" y="5486400"/>
            <a:ext cx="9418320" cy="731520"/>
          </a:xfrm>
          <a:prstGeom prst="roundRect">
            <a:avLst/>
          </a:prstGeom>
          <a:solidFill>
            <a:srgbClr val="E8F6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B3A5C"/>
                </a:solidFill>
                <a:latin typeface="맑은 고딕"/>
              </a:rPr>
              <a:t>"청정에너지는 더러운 에너지만큼 저렴해질 때까지 대세가 되지 않는다." — Marco Alvera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54864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수소의 종류  |  색깔별 분류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492240"/>
            <a:ext cx="11277295" cy="18288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맑은 고딕"/>
              </a:rPr>
              <a:t>4 / 18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463040"/>
          <a:ext cx="1106424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474720"/>
                <a:gridCol w="2560320"/>
                <a:gridCol w="3017520"/>
              </a:tblGrid>
              <a:tr h="5334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구분</a:t>
                      </a:r>
                    </a:p>
                  </a:txBody>
                  <a:tcPr anchor="ctr" marL="73152" marR="73152" marT="36576" marB="36576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생산 방식</a:t>
                      </a:r>
                    </a:p>
                  </a:txBody>
                  <a:tcPr anchor="ctr" marL="73152" marR="73152" marT="36576" marB="36576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CO2 배출</a:t>
                      </a:r>
                    </a:p>
                  </a:txBody>
                  <a:tcPr anchor="ctr" marL="73152" marR="73152" marT="36576" marB="36576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현황/전망</a:t>
                      </a:r>
                    </a:p>
                  </a:txBody>
                  <a:tcPr anchor="ctr" marL="73152" marR="73152" marT="36576" marB="36576">
                    <a:solidFill>
                      <a:srgbClr val="1B3A5C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그레이 (Grey)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천연가스 수증기개질(SMR)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~10kg CO2/kg H2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현재 생산의 75%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블루 (Blue)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SMR + 탄소 포집·저장(CCS)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대폭 감소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현실적 전환 다리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그린 (Green)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재생에너지 수전해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제로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궁극적 목표, 비용 급감 중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핑크 (Pink)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원자력 수전해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제로 (핵폐기물)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원전 보유국 중심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터콰이즈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메탄 열분해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고체 탄소 (CO2 無)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연구 단계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31520" y="493776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B3A5C"/>
                </a:solidFill>
                <a:latin typeface="맑은 고딕"/>
              </a:rPr>
              <a:t>전환 로드맵 (3권 공통 합의)</a:t>
            </a:r>
          </a:p>
          <a:p>
            <a:pPr lvl="1" algn="l">
              <a:spcAft>
                <a:spcPts val="600"/>
              </a:spcAft>
            </a:pPr>
            <a:r>
              <a:rPr sz="1400" b="0">
                <a:solidFill>
                  <a:srgbClr val="333333"/>
                </a:solidFill>
                <a:latin typeface="맑은 고딕"/>
              </a:rPr>
              <a:t>현재: 그레이 지배(75%)  →  2020~30s: 블루 (다리 역할)  →  2040~50: 그린 전면 확산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54864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수소 가치사슬  |  Value Chain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492240"/>
            <a:ext cx="11277295" cy="18288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맑은 고딕"/>
              </a:rPr>
              <a:t>5 / 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645920"/>
            <a:ext cx="2560320" cy="3657600"/>
          </a:xfrm>
          <a:prstGeom prst="round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73736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맑은 고딕"/>
              </a:rPr>
              <a:t>생산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68880"/>
            <a:ext cx="21945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FFFFFF"/>
                </a:solidFill>
                <a:latin typeface="맑은 고딕"/>
              </a:rPr>
              <a:t>  수전해(AWE/PEM/SOEC)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FFFFFF"/>
                </a:solidFill>
                <a:latin typeface="맑은 고딕"/>
              </a:rPr>
              <a:t>  SMR + CCUS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FFFFFF"/>
                </a:solidFill>
                <a:latin typeface="맑은 고딕"/>
              </a:rPr>
              <a:t>  메탄 열분해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63240" y="3200400"/>
            <a:ext cx="274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solidFill>
                  <a:srgbClr val="1B3A5C"/>
                </a:solidFill>
                <a:latin typeface="맑은 고딕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37560" y="1645920"/>
            <a:ext cx="2560320" cy="3657600"/>
          </a:xfrm>
          <a:prstGeom prst="round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29000" y="173736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맑은 고딕"/>
              </a:rPr>
              <a:t>저장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0440" y="2468880"/>
            <a:ext cx="21945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FFFFFF"/>
                </a:solidFill>
                <a:latin typeface="맑은 고딕"/>
              </a:rPr>
              <a:t>  고압 압축 (700bar)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FFFFFF"/>
                </a:solidFill>
                <a:latin typeface="맑은 고딕"/>
              </a:rPr>
              <a:t>  액화 (-253°C)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FFFFFF"/>
                </a:solidFill>
                <a:latin typeface="맑은 고딕"/>
              </a:rPr>
              <a:t>  암모니아/LOHC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FFFFFF"/>
                </a:solidFill>
                <a:latin typeface="맑은 고딕"/>
              </a:rPr>
              <a:t>  금속수소화물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0" y="3200400"/>
            <a:ext cx="274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solidFill>
                  <a:srgbClr val="1B3A5C"/>
                </a:solidFill>
                <a:latin typeface="맑은 고딕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1645920"/>
            <a:ext cx="2560320" cy="3657600"/>
          </a:xfrm>
          <a:prstGeom prst="roundRect">
            <a:avLst/>
          </a:prstGeom>
          <a:solidFill>
            <a:srgbClr val="228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173736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맑은 고딕"/>
              </a:rPr>
              <a:t>운송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468880"/>
            <a:ext cx="21945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FFFFFF"/>
                </a:solidFill>
                <a:latin typeface="맑은 고딕"/>
              </a:rPr>
              <a:t>  파이프라인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FFFFFF"/>
                </a:solidFill>
                <a:latin typeface="맑은 고딕"/>
              </a:rPr>
              <a:t>  해상 탱커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FFFFFF"/>
                </a:solidFill>
                <a:latin typeface="맑은 고딕"/>
              </a:rPr>
              <a:t>  튜브 트레일러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23960" y="3200400"/>
            <a:ext cx="274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solidFill>
                  <a:srgbClr val="1B3A5C"/>
                </a:solidFill>
                <a:latin typeface="맑은 고딕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98280" y="1645920"/>
            <a:ext cx="2560320" cy="3657600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89720" y="173736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맑은 고딕"/>
              </a:rPr>
              <a:t>활용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81160" y="2468880"/>
            <a:ext cx="21945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FFFFFF"/>
                </a:solidFill>
                <a:latin typeface="맑은 고딕"/>
              </a:rPr>
              <a:t>  수송 (FCEV)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FFFFFF"/>
                </a:solidFill>
                <a:latin typeface="맑은 고딕"/>
              </a:rPr>
              <a:t>  발전 (연료전지)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FFFFFF"/>
                </a:solidFill>
                <a:latin typeface="맑은 고딕"/>
              </a:rPr>
              <a:t>  산업 (철강/석유화학)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FFFFFF"/>
                </a:solidFill>
                <a:latin typeface="맑은 고딕"/>
              </a:rPr>
              <a:t>  건물 (난방/냉방)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54864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666666"/>
                </a:solidFill>
                <a:latin typeface="맑은 고딕"/>
              </a:rPr>
              <a:t>2050 글로벌 수소 운송: 파이프라인 55% + 암모니아 해상운송 40%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66666"/>
                </a:solidFill>
                <a:latin typeface="맑은 고딕"/>
              </a:rPr>
              <a:t>수소 저장·운송 시장: $21.7B (2030) → $566B (2050)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54864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수전해 생산 기술 비교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492240"/>
            <a:ext cx="11277295" cy="18288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맑은 고딕"/>
              </a:rPr>
              <a:t>6 / 18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463040"/>
          <a:ext cx="1124712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3200400"/>
                <a:gridCol w="3200400"/>
                <a:gridCol w="3200400"/>
              </a:tblGrid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구분</a:t>
                      </a:r>
                    </a:p>
                  </a:txBody>
                  <a:tcPr anchor="ctr" marL="73152" marR="73152" marT="36576" marB="36576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AWE (알칼라인)</a:t>
                      </a:r>
                    </a:p>
                  </a:txBody>
                  <a:tcPr anchor="ctr" marL="73152" marR="73152" marT="36576" marB="36576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PEM (고분자전해질)</a:t>
                      </a:r>
                    </a:p>
                  </a:txBody>
                  <a:tcPr anchor="ctr" marL="73152" marR="73152" marT="36576" marB="36576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SOEC (고체산화물)</a:t>
                      </a:r>
                    </a:p>
                  </a:txBody>
                  <a:tcPr anchor="ctr" marL="73152" marR="73152" marT="36576" marB="36576">
                    <a:solidFill>
                      <a:srgbClr val="1B3A5C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성숙도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가장 성숙 (상용)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상용화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실증/초기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시장점유율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60~75%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22~25%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~4% (성장 중)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핵심 장점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최저 비용, 귀금속 불요
대규모에 최적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빠른 응답, 유연 운전
(0~160%), 컴팩트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최고 효율 (800°C+)
부식 없음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핵심 단점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느린 응답 속도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귀금속 촉매 고가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초기 단계, 고온 필요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주요 성과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글로벌 주력 기술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2005년 이후 자본비 80% 하락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네덜란드 2.6MW
NASA 4MW 설치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31520" y="55778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666666"/>
                </a:solidFill>
                <a:latin typeface="맑은 고딕"/>
              </a:rPr>
              <a:t>2024년 글로벌 수전해 설비용량: 2 GW  |  시스템 비용 목표: $250~500/kW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66666"/>
                </a:solidFill>
                <a:latin typeface="맑은 고딕"/>
              </a:rPr>
              <a:t>KAIST: 백금 무함유 PEM 수전해 기술, 단원자 귀금속 AEM 촉매 개발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54864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저장 · 운송 기술 비교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492240"/>
            <a:ext cx="11277295" cy="18288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맑은 고딕"/>
              </a:rPr>
              <a:t>7 / 18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463040"/>
          <a:ext cx="1143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560320"/>
                <a:gridCol w="3657600"/>
                <a:gridCol w="3383280"/>
              </a:tblGrid>
              <a:tr h="6858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방식</a:t>
                      </a:r>
                    </a:p>
                  </a:txBody>
                  <a:tcPr anchor="ctr" marL="73152" marR="73152" marT="36576" marB="36576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원리</a:t>
                      </a:r>
                    </a:p>
                  </a:txBody>
                  <a:tcPr anchor="ctr" marL="73152" marR="73152" marT="36576" marB="36576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장점</a:t>
                      </a:r>
                    </a:p>
                  </a:txBody>
                  <a:tcPr anchor="ctr" marL="73152" marR="73152" marT="36576" marB="36576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단점</a:t>
                      </a:r>
                    </a:p>
                  </a:txBody>
                  <a:tcPr anchor="ctr" marL="73152" marR="73152" marT="36576" marB="36576">
                    <a:solidFill>
                      <a:srgbClr val="1B3A5C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고압 압축
(350~700bar)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고압 탱크 저장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최저 비용, FCEV 적용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폭발 위험, 중단거리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액화 수소
(-253°C)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극저온 액화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부피 1/800 축소
71 kg/m³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액화 에너지 소비 큼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암모니아
(NH3)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수소+질소 합성
-33°C 액화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LH2 대비 1.7배 수소 밀도
121 kg/m³, 기존 인프라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분해 에너지 필요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LOHC
(MCH/톨루엔)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유기 액체 캐리어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상온 액체, 석유화학
인프라 활용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고온 탈수소화 필요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금속수소화물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금속에 수소 흡수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가장 안전한 저장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저장 용량 제한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31520" y="576072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66666"/>
                </a:solidFill>
                <a:latin typeface="맑은 고딕"/>
              </a:rPr>
              <a:t>Snam(이탈리아): 기존 천연가스 배관의 70%가 수소 호환  |  배관 1km = 수소 12톤 저장 = 4만 가구 1일 전력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54864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활용 분야  |  섹터 커플링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492240"/>
            <a:ext cx="11277295" cy="18288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맑은 고딕"/>
              </a:rPr>
              <a:t>8 / 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554480"/>
            <a:ext cx="2651760" cy="640080"/>
          </a:xfrm>
          <a:prstGeom prst="round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맑은 고딕"/>
              </a:rPr>
              <a:t>수송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377440"/>
            <a:ext cx="24688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333333"/>
                </a:solidFill>
                <a:latin typeface="맑은 고딕"/>
              </a:rPr>
              <a:t>  FCEV 승용차 (현대 넥쏘 등)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333333"/>
                </a:solidFill>
                <a:latin typeface="맑은 고딕"/>
              </a:rPr>
              <a:t>  수소 트럭 (XCIENT 등 장거리)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333333"/>
                </a:solidFill>
                <a:latin typeface="맑은 고딕"/>
              </a:rPr>
              <a:t>  수소 선박 (암모니아 연료)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333333"/>
                </a:solidFill>
                <a:latin typeface="맑은 고딕"/>
              </a:rPr>
              <a:t>  항공 (e-kerosene 합성연료)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46120" y="1554480"/>
            <a:ext cx="2651760" cy="640080"/>
          </a:xfrm>
          <a:prstGeom prst="round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맑은 고딕"/>
              </a:rPr>
              <a:t>발전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2377440"/>
            <a:ext cx="24688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333333"/>
                </a:solidFill>
                <a:latin typeface="맑은 고딕"/>
              </a:rPr>
              <a:t>  연료전지 발전 (15GW 목표)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333333"/>
                </a:solidFill>
                <a:latin typeface="맑은 고딕"/>
              </a:rPr>
              <a:t>  가스터빈 수소혼소/전소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333333"/>
                </a:solidFill>
                <a:latin typeface="맑은 고딕"/>
              </a:rPr>
              <a:t>  분산형 전원 (건물/공장)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333333"/>
                </a:solidFill>
                <a:latin typeface="맑은 고딕"/>
              </a:rPr>
              <a:t>  계절 저장 → 전력 변환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1554480"/>
            <a:ext cx="2651760" cy="640080"/>
          </a:xfrm>
          <a:prstGeom prst="roundRect">
            <a:avLst/>
          </a:prstGeom>
          <a:solidFill>
            <a:srgbClr val="228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맑은 고딕"/>
              </a:rPr>
              <a:t>산업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2377440"/>
            <a:ext cx="24688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333333"/>
                </a:solidFill>
                <a:latin typeface="맑은 고딕"/>
              </a:rPr>
              <a:t>  수소환원제철 (CO2 95% 감축)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333333"/>
                </a:solidFill>
                <a:latin typeface="맑은 고딕"/>
              </a:rPr>
              <a:t>  석유화학 원료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333333"/>
                </a:solidFill>
                <a:latin typeface="맑은 고딕"/>
              </a:rPr>
              <a:t>  시멘트 (초고온 공정)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333333"/>
                </a:solidFill>
                <a:latin typeface="맑은 고딕"/>
              </a:rPr>
              <a:t>  반도체 공정용 수소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06840" y="1554480"/>
            <a:ext cx="2651760" cy="640080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맑은 고딕"/>
              </a:rPr>
              <a:t>건물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0" y="2377440"/>
            <a:ext cx="24688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333333"/>
                </a:solidFill>
                <a:latin typeface="맑은 고딕"/>
              </a:rPr>
              <a:t>  수소 보일러 (난방)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333333"/>
                </a:solidFill>
                <a:latin typeface="맑은 고딕"/>
              </a:rPr>
              <a:t>  가정용 연료전지 (에네팜)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333333"/>
                </a:solidFill>
                <a:latin typeface="맑은 고딕"/>
              </a:rPr>
              <a:t>  수소 냉방 시스템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333333"/>
                </a:solidFill>
                <a:latin typeface="맑은 고딕"/>
              </a:rPr>
              <a:t>  천연가스 배관 수소 혼입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54864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B3A5C"/>
                </a:solidFill>
                <a:latin typeface="맑은 고딕"/>
              </a:rPr>
              <a:t>핵심 개념: 섹터 커플링 — 수소가 전기·수송·산업·난방을 하나로 연결하는 '만능 에너지 캐리어'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666666"/>
                </a:solidFill>
                <a:latin typeface="맑은 고딕"/>
              </a:rPr>
              <a:t>장거리 트럭(2040): 최대 단일 수소 수요 분야 (~80 Mtpa)  |  항공(2050): ~50 Mtpa (e-fuel 기반)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54864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수소 vs 배터리  |  영역별 적합성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492240"/>
            <a:ext cx="11277295" cy="18288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맑은 고딕"/>
              </a:rPr>
              <a:t>9 / 18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463040"/>
          <a:ext cx="1143000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743200"/>
                <a:gridCol w="2743200"/>
                <a:gridCol w="3931920"/>
              </a:tblGrid>
              <a:tr h="48768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분야</a:t>
                      </a:r>
                    </a:p>
                  </a:txBody>
                  <a:tcPr anchor="ctr" marL="73152" marR="73152" marT="36576" marB="36576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수소 유리</a:t>
                      </a:r>
                    </a:p>
                  </a:txBody>
                  <a:tcPr anchor="ctr" marL="73152" marR="73152" marT="36576" marB="36576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배터리/전기 유리</a:t>
                      </a:r>
                    </a:p>
                  </a:txBody>
                  <a:tcPr anchor="ctr" marL="73152" marR="73152" marT="36576" marB="36576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비고</a:t>
                      </a:r>
                    </a:p>
                  </a:txBody>
                  <a:tcPr anchor="ctr" marL="73152" marR="73152" marT="36576" marB="36576">
                    <a:solidFill>
                      <a:srgbClr val="1B3A5C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승용차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배터리 우세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BEV 경제성 확립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대형 트럭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수소 우세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H2: ~900kg vs 배터리: ~4,500kg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선박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수소(암모니아) 우세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글로벌 배출 ~3%, 암모니아 연료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항공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수소(e-kerosene)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Airbus ZEROe 프로그램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철강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수소환원제철 (H2-DRI)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CO2 95% 감축, 차 가격 &lt;1% 상승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계절 저장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유일한 해법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여름 잉여 → 겨울 수요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장거리 에너지 수송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파이프라인 우세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송전선보다 훨씬 저렴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가정/단거리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전기 우세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그리드 전력이 효율적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31520" y="60350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B3A5C"/>
                </a:solidFill>
                <a:latin typeface="맑은 고딕"/>
              </a:rPr>
              <a:t>수소와 전기는 경쟁이 아닌 보완 — 전기화 불가 영역에서 수소가 핵심 역할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54864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글로벌 수소 시장  |  규모와 전망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492240"/>
            <a:ext cx="11277295" cy="18288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맑은 고딕"/>
              </a:rPr>
              <a:t>10 / 18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463040"/>
          <a:ext cx="502920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2468880"/>
              </a:tblGrid>
              <a:tr h="48768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지표</a:t>
                      </a:r>
                    </a:p>
                  </a:txBody>
                  <a:tcPr anchor="ctr" marL="73152" marR="73152" marT="36576" marB="36576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수치</a:t>
                      </a:r>
                    </a:p>
                  </a:txBody>
                  <a:tcPr anchor="ctr" marL="73152" marR="73152" marT="36576" marB="36576">
                    <a:solidFill>
                      <a:srgbClr val="1B3A5C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2024 글로벌 수소 수요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~1억 톤 (99% 그레이)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2024 그린수소 시장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$79.8억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2025 글로벌 수소경제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$1,863억 (CAGR 4.49%)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2030 그린수소 시장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$605.6억 (CAGR 38.5%)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2050 글로벌 수소경제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$2.5~12조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2050 인프라 투자 기회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$15~20조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2050 수소 수요 전망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3.75~6.6억 톤 (현재 대비 5~6배)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2050 청정수소 에너지 비중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25% (BNEF)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217920" y="146304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B3A5C"/>
                </a:solidFill>
                <a:latin typeface="맑은 고딕"/>
              </a:rPr>
              <a:t>그린수소 비용 하락 추이 ($/kg)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17920" y="2011680"/>
          <a:ext cx="50292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645920"/>
                <a:gridCol w="2011680"/>
              </a:tblGrid>
              <a:tr h="48768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시기</a:t>
                      </a:r>
                    </a:p>
                  </a:txBody>
                  <a:tcPr anchor="ctr" marL="73152" marR="73152" marT="36576" marB="36576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비용</a:t>
                      </a:r>
                    </a:p>
                  </a:txBody>
                  <a:tcPr anchor="ctr" marL="73152" marR="73152" marT="36576" marB="36576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vs 화석연료</a:t>
                      </a:r>
                    </a:p>
                  </a:txBody>
                  <a:tcPr anchor="ctr" marL="73152" marR="73152" marT="36576" marB="36576">
                    <a:solidFill>
                      <a:srgbClr val="1B3A5C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~2010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$24/kg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15배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~2020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$4~5/kg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~2배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2024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$3~8/kg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1.5~6배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2030 목표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$1.5~3/kg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경쟁력 확보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2050 목표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$0.7~1.5/kg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화석연료보다 저렴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31520" y="52120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B3A5C"/>
                </a:solidFill>
                <a:latin typeface="맑은 고딕"/>
              </a:rPr>
              <a:t>주요 비용 목표</a:t>
            </a:r>
          </a:p>
          <a:p>
            <a:pPr lvl="1" algn="l"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  <a:latin typeface="맑은 고딕"/>
              </a:rPr>
              <a:t>US DOE: $1/kg (2031)  |  EU: $1.5~3/kg (2030)  |  한국: 3,500원/kg (2030) → 2,500원/kg (2050)</a:t>
            </a:r>
          </a:p>
          <a:p>
            <a:pPr lvl="1" algn="l"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  <a:latin typeface="맑은 고딕"/>
              </a:rPr>
              <a:t>Green Hydrogen Catapult (7개 글로벌 기업): $2/kg (2026), 25GW 수전해기, 500만톤/년, $1,100억 투자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54864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미국 수소 전략  |  IRA와 수소허브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492240"/>
            <a:ext cx="11277295" cy="18288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맑은 고딕"/>
              </a:rPr>
              <a:t>11 / 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B3A5C"/>
                </a:solidFill>
                <a:latin typeface="맑은 고딕"/>
              </a:rPr>
              <a:t>IRA (인플레이션 감축법) — Section 45V</a:t>
            </a:r>
          </a:p>
          <a:p>
            <a:pPr lvl="1" algn="l"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맑은 고딕"/>
              </a:rPr>
              <a:t>청정수소 생산세액공제: CO2 배출량 기준 4단계, 최대 $3/kg</a:t>
            </a:r>
          </a:p>
          <a:p>
            <a:pPr lvl="1" algn="l"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맑은 고딕"/>
              </a:rPr>
              <a:t>10년간 총 ~$130억 규모 지원</a:t>
            </a:r>
          </a:p>
          <a:p>
            <a:pPr lvl="1" algn="l"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맑은 고딕"/>
              </a:rPr>
              <a:t>석유·가스 초강대국에서 수소 초강대국으로의 확장 전략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333333"/>
                </a:solidFill>
                <a:latin typeface="맑은 고딕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800" b="1">
                <a:solidFill>
                  <a:srgbClr val="1B3A5C"/>
                </a:solidFill>
                <a:latin typeface="맑은 고딕"/>
              </a:rPr>
              <a:t>DOE Hydrogen Shot</a:t>
            </a:r>
          </a:p>
          <a:p>
            <a:pPr lvl="1" algn="l"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맑은 고딕"/>
              </a:rPr>
              <a:t>목표: $1/kg by 2031 (1-1-1 비전)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333333"/>
                </a:solidFill>
                <a:latin typeface="맑은 고딕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800" b="1">
                <a:solidFill>
                  <a:srgbClr val="1B3A5C"/>
                </a:solidFill>
                <a:latin typeface="맑은 고딕"/>
              </a:rPr>
              <a:t>수소허브 프로그램 (H2Hubs)</a:t>
            </a:r>
          </a:p>
          <a:p>
            <a:pPr lvl="1" algn="l"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맑은 고딕"/>
              </a:rPr>
              <a:t>지역별 생산-저장-활용 통합 생태계 구축</a:t>
            </a:r>
          </a:p>
          <a:p>
            <a:pPr lvl="1" algn="l"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맑은 고딕"/>
              </a:rPr>
              <a:t>생산지-소비지-인프라를 클러스터로 연결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858000" y="1645920"/>
          <a:ext cx="438912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182880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CO2 배출 (kg CO2/kg H2)</a:t>
                      </a:r>
                    </a:p>
                  </a:txBody>
                  <a:tcPr anchor="ctr" marL="73152" marR="73152" marT="36576" marB="36576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세액공제 ($/kg)</a:t>
                      </a:r>
                    </a:p>
                  </a:txBody>
                  <a:tcPr anchor="ctr" marL="73152" marR="73152" marT="36576" marB="36576">
                    <a:solidFill>
                      <a:srgbClr val="1B3A5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&lt; 0.45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$3.00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0.45 ~ 1.5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$1.00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1.5 ~ 2.5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$0.75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2.5 ~ 4.0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$0.60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54864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유럽 수소 전략  |  REPowerEU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492240"/>
            <a:ext cx="11277295" cy="18288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맑은 고딕"/>
              </a:rPr>
              <a:t>12 / 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B3A5C"/>
                </a:solidFill>
                <a:latin typeface="맑은 고딕"/>
              </a:rPr>
              <a:t>REPowerEU 목표 (2030)</a:t>
            </a:r>
          </a:p>
          <a:p>
            <a:pPr lvl="1" algn="l"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맑은 고딕"/>
              </a:rPr>
              <a:t>그린수소 1,000만 톤 자체 생산 + 1,000만 톤 수입</a:t>
            </a:r>
          </a:p>
          <a:p>
            <a:pPr lvl="1" algn="l"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맑은 고딕"/>
              </a:rPr>
              <a:t>수소 프로젝트 총 투자: $1,340억</a:t>
            </a:r>
          </a:p>
          <a:p>
            <a:pPr lvl="1" algn="l"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맑은 고딕"/>
              </a:rPr>
              <a:t>러시아 가스 의존 탈피 + 산업 경쟁력 확보 (이중 동기)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333333"/>
                </a:solidFill>
                <a:latin typeface="맑은 고딕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800" b="1">
                <a:solidFill>
                  <a:srgbClr val="1B3A5C"/>
                </a:solidFill>
                <a:latin typeface="맑은 고딕"/>
              </a:rPr>
              <a:t>European Hydrogen Backbone (유럽 수소 배관망)</a:t>
            </a:r>
          </a:p>
          <a:p>
            <a:pPr lvl="1" algn="l"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맑은 고딕"/>
              </a:rPr>
              <a:t>2030: 31,500km  →  2040: 57,600km</a:t>
            </a:r>
          </a:p>
          <a:p>
            <a:pPr lvl="1" algn="l"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맑은 고딕"/>
              </a:rPr>
              <a:t>IPCEI Hy2Infra: 최대 69억 유로 공적 자금</a:t>
            </a:r>
          </a:p>
          <a:p>
            <a:pPr lvl="1" algn="l"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맑은 고딕"/>
              </a:rPr>
              <a:t>독일 단독: 200억 유로 핵심 수소 네트워크 투자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333333"/>
                </a:solidFill>
                <a:latin typeface="맑은 고딕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800" b="1">
                <a:solidFill>
                  <a:srgbClr val="1B3A5C"/>
                </a:solidFill>
                <a:latin typeface="맑은 고딕"/>
              </a:rPr>
              <a:t>SoutH2 Corridor</a:t>
            </a:r>
          </a:p>
          <a:p>
            <a:pPr lvl="1" algn="l"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맑은 고딕"/>
              </a:rPr>
              <a:t>북아프리카 → 이탈리아 → 오스트리아 → 독일, 3,300km 파이프라인</a:t>
            </a:r>
          </a:p>
          <a:p>
            <a:pPr lvl="1" algn="l"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맑은 고딕"/>
              </a:rPr>
              <a:t>유럽 에너지 안보의 핵심 인프라로 부상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54864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중국 · 중동 수소 전략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492240"/>
            <a:ext cx="11277295" cy="18288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맑은 고딕"/>
              </a:rPr>
              <a:t>13 / 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1B3A5C"/>
                </a:solidFill>
                <a:latin typeface="맑은 고딕"/>
              </a:rPr>
              <a:t>중국 — 세계 최대 수소 생산국</a:t>
            </a:r>
          </a:p>
          <a:p>
            <a:pPr lvl="1" algn="l">
              <a:spcAft>
                <a:spcPts val="600"/>
              </a:spcAft>
            </a:pPr>
            <a:r>
              <a:rPr sz="1400" b="0">
                <a:solidFill>
                  <a:srgbClr val="333333"/>
                </a:solidFill>
                <a:latin typeface="맑은 고딕"/>
              </a:rPr>
              <a:t>생산: 3,500만 톤 (2023), 용량 4,900만 톤</a:t>
            </a:r>
          </a:p>
          <a:p>
            <a:pPr lvl="1" algn="l">
              <a:spcAft>
                <a:spcPts val="600"/>
              </a:spcAft>
            </a:pPr>
            <a:r>
              <a:rPr sz="1400" b="0">
                <a:solidFill>
                  <a:srgbClr val="333333"/>
                </a:solidFill>
                <a:latin typeface="맑은 고딕"/>
              </a:rPr>
              <a:t>수소 산업 규모 1조 위안 돌파</a:t>
            </a:r>
          </a:p>
          <a:p>
            <a:pPr lvl="1" algn="l">
              <a:spcAft>
                <a:spcPts val="600"/>
              </a:spcAft>
            </a:pPr>
            <a:r>
              <a:rPr sz="1400" b="0">
                <a:solidFill>
                  <a:srgbClr val="333333"/>
                </a:solidFill>
                <a:latin typeface="맑은 고딕"/>
              </a:rPr>
              <a:t>수전해기: 글로벌 설치용량 65%
    확정 주문 75% 점유</a:t>
            </a:r>
          </a:p>
          <a:p>
            <a:pPr lvl="1" algn="l">
              <a:spcAft>
                <a:spcPts val="600"/>
              </a:spcAft>
            </a:pPr>
            <a:r>
              <a:rPr sz="1400" b="0">
                <a:solidFill>
                  <a:srgbClr val="333333"/>
                </a:solidFill>
                <a:latin typeface="맑은 고딕"/>
              </a:rPr>
              <a:t>신장 쿠차 프로젝트: 세계 최초
    대규모 상업 그린수소 (1,000m³/hr)</a:t>
            </a:r>
          </a:p>
          <a:p>
            <a:pPr lvl="1" algn="l">
              <a:spcAft>
                <a:spcPts val="600"/>
              </a:spcAft>
            </a:pPr>
            <a:r>
              <a:rPr sz="1400" b="0">
                <a:solidFill>
                  <a:srgbClr val="333333"/>
                </a:solidFill>
                <a:latin typeface="맑은 고딕"/>
              </a:rPr>
              <a:t>그린수소 프로젝트: 600+건 진행 중</a:t>
            </a:r>
          </a:p>
          <a:p>
            <a:pPr lvl="1" algn="l">
              <a:spcAft>
                <a:spcPts val="600"/>
              </a:spcAft>
            </a:pPr>
            <a:r>
              <a:rPr sz="1400" b="0">
                <a:solidFill>
                  <a:srgbClr val="333333"/>
                </a:solidFill>
                <a:latin typeface="맑은 고딕"/>
              </a:rPr>
              <a:t>FCEV 목표: 2025년 5만 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46304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1B3A5C"/>
                </a:solidFill>
                <a:latin typeface="맑은 고딕"/>
              </a:rPr>
              <a:t>중동 — 석유 수출국의 대전환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333333"/>
                </a:solidFill>
                <a:latin typeface="맑은 고딕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2C5F8A"/>
                </a:solidFill>
                <a:latin typeface="맑은 고딕"/>
              </a:rPr>
              <a:t>사우디아라비아</a:t>
            </a:r>
          </a:p>
          <a:p>
            <a:pPr lvl="1" algn="l">
              <a:spcAft>
                <a:spcPts val="600"/>
              </a:spcAft>
            </a:pPr>
            <a:r>
              <a:rPr sz="1400" b="0">
                <a:solidFill>
                  <a:srgbClr val="333333"/>
                </a:solidFill>
                <a:latin typeface="맑은 고딕"/>
              </a:rPr>
              <a:t>세계 최대 석유 수출국 → 수소 수출국 전환</a:t>
            </a:r>
          </a:p>
          <a:p>
            <a:pPr lvl="1" algn="l">
              <a:spcAft>
                <a:spcPts val="600"/>
              </a:spcAft>
            </a:pPr>
            <a:r>
              <a:rPr sz="1400" b="0">
                <a:solidFill>
                  <a:srgbClr val="333333"/>
                </a:solidFill>
                <a:latin typeface="맑은 고딕"/>
              </a:rPr>
              <a:t>NEOM Helios: $50억, 세계 최대 그린수소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333333"/>
                </a:solidFill>
                <a:latin typeface="맑은 고딕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2C5F8A"/>
                </a:solidFill>
                <a:latin typeface="맑은 고딕"/>
              </a:rPr>
              <a:t>UAE</a:t>
            </a:r>
          </a:p>
          <a:p>
            <a:pPr lvl="1" algn="l">
              <a:spcAft>
                <a:spcPts val="600"/>
              </a:spcAft>
            </a:pPr>
            <a:r>
              <a:rPr sz="1400" b="0">
                <a:solidFill>
                  <a:srgbClr val="333333"/>
                </a:solidFill>
                <a:latin typeface="맑은 고딕"/>
              </a:rPr>
              <a:t>블루수소 + 암모니아 수출 확대</a:t>
            </a:r>
          </a:p>
          <a:p>
            <a:pPr lvl="1" algn="l">
              <a:spcAft>
                <a:spcPts val="600"/>
              </a:spcAft>
            </a:pPr>
            <a:r>
              <a:rPr sz="1400" b="0">
                <a:solidFill>
                  <a:srgbClr val="333333"/>
                </a:solidFill>
                <a:latin typeface="맑은 고딕"/>
              </a:rPr>
              <a:t>아부다비: 연 20만톤 암모니아 → 한국 수출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333333"/>
                </a:solidFill>
                <a:latin typeface="맑은 고딕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2C5F8A"/>
                </a:solidFill>
                <a:latin typeface="맑은 고딕"/>
              </a:rPr>
              <a:t>오만</a:t>
            </a:r>
          </a:p>
          <a:p>
            <a:pPr lvl="1" algn="l">
              <a:spcAft>
                <a:spcPts val="600"/>
              </a:spcAft>
            </a:pPr>
            <a:r>
              <a:rPr sz="1400" b="0">
                <a:solidFill>
                  <a:srgbClr val="333333"/>
                </a:solidFill>
                <a:latin typeface="맑은 고딕"/>
              </a:rPr>
              <a:t>그린수소 허브 추진</a:t>
            </a:r>
          </a:p>
          <a:p>
            <a:pPr lvl="1" algn="l">
              <a:spcAft>
                <a:spcPts val="600"/>
              </a:spcAft>
            </a:pPr>
            <a:r>
              <a:rPr sz="1400" b="0">
                <a:solidFill>
                  <a:srgbClr val="333333"/>
                </a:solidFill>
                <a:latin typeface="맑은 고딕"/>
              </a:rPr>
              <a:t>POSCO 컨소시엄: 47년 독점 개발권 확보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54864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한국 수소 정책  |  로드맵과 목표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492240"/>
            <a:ext cx="11277295" cy="18288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맑은 고딕"/>
              </a:rPr>
              <a:t>14 / 18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371600"/>
          <a:ext cx="1124712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8046720"/>
              </a:tblGrid>
              <a:tr h="41910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정책/지표</a:t>
                      </a:r>
                    </a:p>
                  </a:txBody>
                  <a:tcPr anchor="ctr" marL="73152" marR="73152" marT="36576" marB="36576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내용</a:t>
                      </a:r>
                    </a:p>
                  </a:txBody>
                  <a:tcPr anchor="ctr" marL="73152" marR="73152" marT="36576" marB="36576">
                    <a:solidFill>
                      <a:srgbClr val="1B3A5C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2005년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최초 '수소경제 마스터플랜' 수립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2019 로드맵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FCEV 620만대, 충전소 1,200개, 연료전지 15GW (2040)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2021 기본계획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2030: 390만톤 / 2050: 2,790만톤 청정수소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세계 최초 수소법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수소경제 전용 법률 제정 (글로벌 최초)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청정수소 입찰제(CHPS)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세계 최초 시행 (2024), 입찰가 477원/kWh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2050 수소 비중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최종에너지 수요의 21%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수입 의존도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81% (~2,200만톤) 수입 필요 (2050)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국내 생산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블루 200만톤 + 그린 300만톤 = 500만톤 (2050)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경제적 효과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연 43조원 부가가치, 42만개 일자리 (2040)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충전소 현황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385개 (2024) → 450개 (2025) → 660개 (2030)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수소 배관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410km 건설 중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54864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한국 기업 수소 투자 현황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492240"/>
            <a:ext cx="11277295" cy="18288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맑은 고딕"/>
              </a:rPr>
              <a:t>15 / 18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371600"/>
          <a:ext cx="1143000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011680"/>
                <a:gridCol w="7589520"/>
              </a:tblGrid>
              <a:tr h="627017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기업/그룹</a:t>
                      </a:r>
                    </a:p>
                  </a:txBody>
                  <a:tcPr anchor="ctr" marL="73152" marR="73152" marT="36576" marB="36576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2030 투자규모</a:t>
                      </a:r>
                    </a:p>
                  </a:txBody>
                  <a:tcPr anchor="ctr" marL="73152" marR="73152" marT="36576" marB="36576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주요 수소 사업</a:t>
                      </a:r>
                    </a:p>
                  </a:txBody>
                  <a:tcPr anchor="ctr" marL="73152" marR="73152" marT="36576" marB="36576">
                    <a:solidFill>
                      <a:srgbClr val="1B3A5C"/>
                    </a:solidFill>
                  </a:tcPr>
                </a:tc>
              </a:tr>
              <a:tr h="6270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SK그룹
(SK E&amp;S)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~$120억
(~12조원)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보령 블루수소 25만톤/년(2026)
인천 세계최대 수소액화플랜트 3만톤/년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</a:tr>
              <a:tr h="6270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현대차그룹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~$72억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FCEV 리더 (넥쏘, XCIENT 수소트럭)
수소 상용 모빌리티 밸류체인 통합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</a:tr>
              <a:tr h="6270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포스코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~$65억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수소환원제철(HyREX)
오만 그린수소 22만톤/년 (47년 독점)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</a:tr>
              <a:tr h="6270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롯데케미칼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6조원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2030년까지 청정수소 120만톤 생산·공급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</a:tr>
              <a:tr h="6270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두산퓨얼셀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—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정치용 연료전지 국내 M/S 1위
미국 수출 확대, SOFC 라인업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</a:tr>
              <a:tr h="62701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한화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—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해양 수소 연료전지 (200kW, DNV인증)
수소 저장 사업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31520" y="594360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B3A5C"/>
                </a:solidFill>
                <a:latin typeface="맑은 고딕"/>
              </a:rPr>
              <a:t>5대 그룹 합계: 2030년까지 $380억 (약 43조원) 투자 계획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54864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수소 경제 핵심 수치  |  Summary Stats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492240"/>
            <a:ext cx="11277295" cy="18288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맑은 고딕"/>
              </a:rPr>
              <a:t>16 / 18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371600"/>
          <a:ext cx="1124712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4114800"/>
                <a:gridCol w="5760720"/>
              </a:tblGrid>
              <a:tr h="386861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분류</a:t>
                      </a:r>
                    </a:p>
                  </a:txBody>
                  <a:tcPr anchor="ctr" marL="73152" marR="73152" marT="36576" marB="36576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지표</a:t>
                      </a:r>
                    </a:p>
                  </a:txBody>
                  <a:tcPr anchor="ctr" marL="73152" marR="73152" marT="36576" marB="36576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수치</a:t>
                      </a:r>
                    </a:p>
                  </a:txBody>
                  <a:tcPr anchor="ctr" marL="73152" marR="73152" marT="36576" marB="36576">
                    <a:solidFill>
                      <a:srgbClr val="1B3A5C"/>
                    </a:solidFill>
                  </a:tcPr>
                </a:tc>
              </a:tr>
              <a:tr h="386861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시장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2024 글로벌 수소 수요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~1억 톤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</a:tr>
              <a:tr h="386861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시장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2050 수소 수요 전망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3.75~6.6억 톤 (5~6배)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</a:tr>
              <a:tr h="386861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시장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2050 수소경제 규모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$2.5~12조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</a:tr>
              <a:tr h="386861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비용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그린수소 비용 (2024)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$3~8/kg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</a:tr>
              <a:tr h="386861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비용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그린수소 목표 (2050)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$0.7~1.5/kg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</a:tr>
              <a:tr h="386861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투자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EU 수소 프로젝트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$1,340억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</a:tr>
              <a:tr h="386861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투자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한국 5대 그룹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$380억 (2030)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</a:tr>
              <a:tr h="386861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인프라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EU 수소 배관 (2040)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57,600km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</a:tr>
              <a:tr h="386861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인프라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한국 충전소 (2024)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385개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</a:tr>
              <a:tr h="386861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한국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FCEV 등록 (누적)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19,270대 (글로벌 1위)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</a:tr>
              <a:tr h="386861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한국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정치용 연료전지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1GW+ (세계 1/3 이상)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</a:tr>
              <a:tr h="38686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한국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2050 수소 에너지 비중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최종 에너지의 21%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54864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도전과 과제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492240"/>
            <a:ext cx="11277295" cy="18288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맑은 고딕"/>
              </a:rPr>
              <a:t>17 / 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463040"/>
            <a:ext cx="5486400" cy="502920"/>
          </a:xfrm>
          <a:prstGeom prst="round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비용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057400"/>
            <a:ext cx="51206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latin typeface="맑은 고딕"/>
              </a:rPr>
              <a:t>  그린수소: 화석 대비 1.5~6배 비쌈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latin typeface="맑은 고딕"/>
              </a:rPr>
              <a:t>  에너지 변환 손실 60~70%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latin typeface="맑은 고딕"/>
              </a:rPr>
              <a:t>  청정수소 입찰가 477원/kWh
    — 수익성 미확보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1463040"/>
            <a:ext cx="5486400" cy="502920"/>
          </a:xfrm>
          <a:prstGeom prst="round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인프라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2057400"/>
            <a:ext cx="51206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latin typeface="맑은 고딕"/>
              </a:rPr>
              <a:t>  2050까지 $15조 투자 필요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latin typeface="맑은 고딕"/>
              </a:rPr>
              <a:t>  한국 충전소 385개 (2024)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latin typeface="맑은 고딕"/>
              </a:rPr>
              <a:t>  수소 액화플랜트
    — 전량 외국 기술 의존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3840480"/>
            <a:ext cx="5486400" cy="502920"/>
          </a:xfrm>
          <a:prstGeom prst="roundRect">
            <a:avLst/>
          </a:prstGeom>
          <a:solidFill>
            <a:srgbClr val="228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실행 리스크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434840"/>
            <a:ext cx="51206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latin typeface="맑은 고딕"/>
              </a:rPr>
              <a:t>  글로벌 프로젝트: 49→37 Mtpa 하향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latin typeface="맑은 고딕"/>
              </a:rPr>
              <a:t>  바인딩 계약 &lt; 2 Mt/year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latin typeface="맑은 고딕"/>
              </a:rPr>
              <a:t>  전문가: 2030 목표의 10%만 달성 가능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latin typeface="맑은 고딕"/>
              </a:rPr>
              <a:t>  Stellantis, 수소차 프로그램 취소 (2025.7)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35040" y="3840480"/>
            <a:ext cx="5486400" cy="502920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정책·안전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0" y="4434840"/>
            <a:ext cx="51206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latin typeface="맑은 고딕"/>
              </a:rPr>
              <a:t>  한국: 포지티브 규제 → 유연성 부족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latin typeface="맑은 고딕"/>
              </a:rPr>
              <a:t>  정권 교체 시 정책 일관성 리스크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latin typeface="맑은 고딕"/>
              </a:rPr>
              <a:t>  중국 수전해기 65~75% 지배
    — 공급망 리스크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latin typeface="맑은 고딕"/>
              </a:rPr>
              <a:t>  수소 저장·충전 사고 60%+ 집중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371600" y="6217920"/>
            <a:ext cx="9418320" cy="457200"/>
          </a:xfrm>
          <a:prstGeom prst="roundRect">
            <a:avLst/>
          </a:prstGeom>
          <a:solidFill>
            <a:srgbClr val="E8F6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B3A5C"/>
                </a:solidFill>
                <a:latin typeface="맑은 고딕"/>
              </a:rPr>
              <a:t>"저탄소 수소는 실패하는 것이 아니라, 닷컴 시대 초기를 겪고 있는 것이다." — ERM Report (2024)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0"/>
            <a:ext cx="12191695" cy="54864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914400"/>
            <a:ext cx="103327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맑은 고딕"/>
              </a:rPr>
              <a:t>결론 및 시사점</a:t>
            </a:r>
          </a:p>
        </p:txBody>
      </p:sp>
      <p:sp>
        <p:nvSpPr>
          <p:cNvPr id="4" name="Oval 3"/>
          <p:cNvSpPr/>
          <p:nvPr/>
        </p:nvSpPr>
        <p:spPr>
          <a:xfrm>
            <a:off x="914400" y="2011680"/>
            <a:ext cx="548640" cy="548640"/>
          </a:xfrm>
          <a:prstGeom prst="ellipse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7360" y="1965960"/>
            <a:ext cx="8686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2ECC71"/>
                </a:solidFill>
                <a:latin typeface="맑은 고딕"/>
              </a:rPr>
              <a:t>수소는 탄소중립의 필수 퍼즐 조각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37360" y="2423160"/>
            <a:ext cx="8686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 b="0">
                <a:solidFill>
                  <a:srgbClr val="CCCCCC"/>
                </a:solidFill>
                <a:latin typeface="맑은 고딕"/>
              </a:rPr>
              <a:t>  전기화만으로는 순배출 제로 불가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CCCCCC"/>
                </a:solidFill>
                <a:latin typeface="맑은 고딕"/>
              </a:rPr>
              <a:t>  중공업·장거리 수송·계절 저장에 수소는 유일한 대안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CCCCCC"/>
                </a:solidFill>
                <a:latin typeface="맑은 고딕"/>
              </a:rPr>
              <a:t>  2050 수소 수요: 현재의 5~6배 (3.75~6.6억 톤)</a:t>
            </a:r>
          </a:p>
        </p:txBody>
      </p:sp>
      <p:sp>
        <p:nvSpPr>
          <p:cNvPr id="7" name="Oval 6"/>
          <p:cNvSpPr/>
          <p:nvPr/>
        </p:nvSpPr>
        <p:spPr>
          <a:xfrm>
            <a:off x="914400" y="3474720"/>
            <a:ext cx="548640" cy="548640"/>
          </a:xfrm>
          <a:prstGeom prst="ellipse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3429000"/>
            <a:ext cx="8686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2ECC71"/>
                </a:solidFill>
                <a:latin typeface="맑은 고딕"/>
              </a:rPr>
              <a:t>그레이 → 블루 → 그린, 단계적 전환이 현실 경로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37360" y="3886200"/>
            <a:ext cx="8686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 b="0">
                <a:solidFill>
                  <a:srgbClr val="CCCCCC"/>
                </a:solidFill>
                <a:latin typeface="맑은 고딕"/>
              </a:rPr>
              <a:t>  그린수소 비용: $24/kg(2010) → $3~8(현재) → $1 이하(2050)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CCCCCC"/>
                </a:solidFill>
                <a:latin typeface="맑은 고딕"/>
              </a:rPr>
              <a:t>  블루수소가 2030년대까지 '다리' 역할 수행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CCCCCC"/>
                </a:solidFill>
                <a:latin typeface="맑은 고딕"/>
              </a:rPr>
              <a:t>  세계적 투자 물결: 수조 달러 규모 진행 중</a:t>
            </a:r>
          </a:p>
        </p:txBody>
      </p:sp>
      <p:sp>
        <p:nvSpPr>
          <p:cNvPr id="10" name="Oval 9"/>
          <p:cNvSpPr/>
          <p:nvPr/>
        </p:nvSpPr>
        <p:spPr>
          <a:xfrm>
            <a:off x="914400" y="4937760"/>
            <a:ext cx="548640" cy="548640"/>
          </a:xfrm>
          <a:prstGeom prst="ellipse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4892040"/>
            <a:ext cx="8686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2ECC71"/>
                </a:solidFill>
                <a:latin typeface="맑은 고딕"/>
              </a:rPr>
              <a:t>한국: 기술 리더십 + 해외 공급망 + 제도적 시장 = 경쟁력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5349240"/>
            <a:ext cx="8686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 b="0">
                <a:solidFill>
                  <a:srgbClr val="CCCCCC"/>
                </a:solidFill>
                <a:latin typeface="맑은 고딕"/>
              </a:rPr>
              <a:t>  FCEV·연료전지 세계 선도, 세계 최초 수소법·입찰제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CCCCCC"/>
                </a:solidFill>
                <a:latin typeface="맑은 고딕"/>
              </a:rPr>
              <a:t>  약점: 재생에너지 부족 → 81% 수입 의존 불가피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CCCCCC"/>
                </a:solidFill>
                <a:latin typeface="맑은 고딕"/>
              </a:rPr>
              <a:t>  핵심: 액화 기술 국산화 + 해외 파트너십 다변화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035040"/>
            <a:ext cx="12191695" cy="54864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6217920"/>
            <a:ext cx="10332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맑은 고딕"/>
              </a:rPr>
              <a:t>감사합니다  |  Thank You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맑은 고딕"/>
              </a:rPr>
              <a:t>18 / 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