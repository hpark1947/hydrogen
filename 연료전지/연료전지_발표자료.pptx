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맑은 고딕"/>
              </a:rPr>
              <a:t>연료전지(Fuel Cell) 산업 동향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5ED"/>
                </a:solidFill>
                <a:latin typeface="맑은 고딕"/>
              </a:rPr>
              <a:t>글로벌 시장 동향 | 미국·중국 경쟁 구도 | 한국의 현주소와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맑은 고딕"/>
              </a:rPr>
              <a:t>2026. 02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목차 (Table of Contents)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371600" cy="7315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글로벌 연료전지 시장 동향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시장 규모, 유형별 동향, 응용 분야, 주요국 정책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37160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23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미국 연료전지 산업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정책, 주요 기업, R&amp;D, 응용 분야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3716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83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중국 연료전지 산업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정책, 주요 기업, 기술 수준, 상용차 중심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13716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343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미국 vs 중국 경쟁 구도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전략 비교, 강점·약점, 향후 전망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3716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303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한국의 현주소와 전망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시장, 기업, R&amp;D, 인프라, 강점·약점,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글로벌 연료전지 시장 규모 및 성장 전망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맑은 고딕"/>
              </a:rPr>
              <a:t>2025년 시장 규모: 약 107.6억~129.4억 달러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맑은 고딕"/>
              </a:rPr>
              <a:t>2030년까지 CAGR 20~27%로 고속 성장 전망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아시아태평양 지역이 시장 점유율 42.7%로 최대 시장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9260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조사기관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2030년 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CAGR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Grand View Research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369.8억 달러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27.1%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MarketsandMarkets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181.6억 달러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26.3%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Wissen Research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210억 달러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25.0%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MarkNtel Advisors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81.3억 달러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20.4%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2926080"/>
            <a:ext cx="34747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2034년 장기 전망
372억~957억 달러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06240"/>
            <a:ext cx="347472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핵심 성장 동인
AI 데이터센터 + 상용차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유형별 동향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4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4114800"/>
                <a:gridCol w="347472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시장 점유율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특성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동향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PEMFC
(고분자전해질막)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60~67%
(1위)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작동온도 60~80°C
빠른 기동, 높은 출력밀도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백금 사용량 90% 감소 달성
Fe-N-C 촉매 0.85 W/cm²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SOFC
(고체산화물)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작동온도 600~1,000°C
효율 60~75%, 다연료 가능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AI 데이터센터 전력 공급 폭발적 성장
Bloom Energy 1GW 공급계약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MCFC
(용융탄산염)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작동온도 ~650°C
대규모 산업/발전용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FuelCell Energy 주도
대형 분산발전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PAFC
(인산형)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중간 온도 작동
도시가스 기반 분산발전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 PureCell 시리즈
안정적 발전용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주요 응용 분야별 동향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383280" cy="4572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고정형 발전
(시장 점유율 68.8%)
━━━━━━━━━━━━
AI 데이터센터 전력 수요
급증이 핵심 성장 동인
2026년 = 'SOFC의 해'
2030년까지 데이터센터
38%가 온사이트 발전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383280" cy="4572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수송 분야
(최고 성장률)
━━━━━━━━━━━━
2025 수소차 16,011대 판매
(전년 대비 +24.4%)
현대차 42.9% 세계 1위
수소 상용차 CAGR 47.7%
(2025~2032)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749039" cy="4572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신규 응용 분야
━━━━━━━━━━━━
[해양] 한화에어로 200kW
선박용 연료전지, DNV 인증
[항공] ZeroAvia
1.0 kW/kg 출력밀도 달성
[군사] UAV 비행시간
2h → 6h+ 연장
[휴대용] CAGR 14%+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세계 주요국 수소/연료전지 정책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6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649224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국가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정책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미국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Hydrogen Shot + IRA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2031년까지 $1/kg 목표 | H2Hubs 70억$ (일부 삭감) | 45V 세액공제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EU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EU 수소전략 + REPowerEU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2030년 재생수소 2,000만톤 | 전해조 40GW | 1.845억 유로 공모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일본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수소기본전략 (2023 개정)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관민 15조 엔(1,000억$) | 에네팜 50만대+ | 세계 최초 수소전략(2017)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로드맵 + 수소법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수소법(2020) | 2040년 FCEV 620만대 | 발전용 15GW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중국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 중장기 계획 (2021-2035)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2025년 FCV 5만대 목표 | 에너지법에 수소 포함 | 24개 성시 33건 정책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[미국] 수소/연료전지 정책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국가 청정 수소 전략 및 로드맵 (2023)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2030년까지 연간 수소 생산 1,000만 톤 목표 (현재 7~9 MMTpa 전망)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인플레이션 감축법(IRA) - Section 45V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수소 1kg당 최대 $3 세액공제 | 트럼프 행정부 하 공제기간 10년→2년 단축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지역 청정 수소 허브 (H2Hubs)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7개 허브에 70억 달러 투자 → 트럼프 행정부, 서부 2개 허브 22억$ 취소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캘리포니아 ARCHES 12억$ 취소, 태평양 북서부 10억$ 삭감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Hydrogen Shot (DOE)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2031년까지 청정수소 비용 80% 절감, $1/kg 달성 목표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PEM 전해조 자본비용 80% 절감(2005~), 연료전지 시스템 70% 절감(2008~)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74C3C"/>
                </a:solidFill>
                <a:latin typeface="맑은 고딕"/>
              </a:rPr>
              <a:t>정책 리스크: 행정부 교체에 따른 불확실성이 투자 저해 요인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[미국] 주요 연료전지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8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657600"/>
                <a:gridCol w="310896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기술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실적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특이사항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Bloom Energy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SOFC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2025 매출 20.2억$ (+37.3%)
수주잔고 200억$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업계 유일 수익 기업
AI 데이터센터 핵심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Plug Power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PEMFC + 전해조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2025 9개월 4.847억$
GenEco 230MW+ 파이프라인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Amazon 지게차 15,000대+
그린수소 통합 솔루션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Ballard Power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PEMFC 스택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Q3 매출 3,250만$ (+120%)
수주잔고 1.328억$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캐나다 본사
Weichai와 중국 JV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Cummins/Accelera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+ 전해조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린데에 35MW 전해조 납품
전체 매출 337억$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H2-ICE 병행 추진
4.58억$ 구조조정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Nikola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 트럭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2025.2 파산 신청
트럭 95대 리콜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Chapter 11
수소트럭 상용화 어려움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[미국] 연료전지 응용 분야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물류/지게차 — 가장 상용화된 분야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Amazon 15,000대+ 운영, 5,000대 추가 계획 | Walmart 대규모 도입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3분 충전, 교대근무 시 일관된 출력, 배터리 교체 불필요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AI 데이터센터 분산전원 — 최대 성장 분야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Bloom Energy: AEP 1GW 계약, Brookfield 50억$ 파트너십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전력망 연결 수년 소요 → SOFC로 신속한 현장 배치 가능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군사 응용 — 독보적 영역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시장규모: 2024년 12억$ → 2033년 39억$ (CAGR 13.8%)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보병 휴대전원(무게 50% 절감), UAV(비행 6h+), 잠수함(무소음)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74C3C"/>
                </a:solidFill>
                <a:latin typeface="맑은 고딕"/>
              </a:rPr>
              <a:t>수소충전소: 전국 ~51개 (95%가 캘리포니아) — 인프라 극히 부족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[중국] 연료전지 시장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10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실적/달성률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연료전지차(FCV)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50,000대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~30,000대 (60%)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수소충전소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1,200개소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~540개소 (45%)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생산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10~20만 톤/년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핵심 부품 국산화율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70% 달성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371600"/>
            <a:ext cx="41148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시장 규모
2023년 15.4억$ → 2026년 35.5억$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651760"/>
            <a:ext cx="411480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국산 스택
수입품 대비 60% 저렴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중국 수소 에너지 중장기 계획 (2021~2035) — NDRC 발표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3단계 로드맵: 1단계(~2025) 프레임워크 → 2단계(~2030) 혁신 시스템 → 3단계(~2035) 다양한 생태계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2024.11: 24개 성/시에서 33개 신규 수소정책 | 2025.4: 에너지법에 수소 포함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2025년 재무부 FCV 보조금: 3.21억$ | 5개 시범 도시 클러스터 운영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[중국] 주요 연료전지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11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657600"/>
                <a:gridCol w="329184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본사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사업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특이사항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SinoHytec (이화통)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베이징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 연료전지 엔진 개발
IPO 14억 위안(2.13억$)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Toyota 등 5개사와 공동개발
시스템 시장 선두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Refire (리파이어)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상하이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엔진 제조
(트럭·버스용)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생산능력 1,000대→20,000대
선제적 확대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Weichai Power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산둥성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Ballard와 JV (51:49)
MEA 장기 독점 공급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SOFC 전략 병행
국가급 핵심 멤버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SAIC Motor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상하이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수소차 10종 출시 계획
Maxus EUNIQ 7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중국 최대 자동차 그룹
수소차 전략 추진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Sinosynergy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CCM 1.5만개/일, MEA 1만개/일
핵심부품 자체 개발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국산 스택 60% 저렴
고객 70개사+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[중국] 상용차 중심 대규모 보급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중국 연료전지 시장의 60%+ = 수송 부문, 상용차가 압도적 비중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2025년 12월 주요 배치 사례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광저우 버스그룹: 수소 시내버스 450대 입찰 (Skywell 250대 + King Long 200대)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저장 롄허수소: 연료전지 세미트럭/덤프트럭 200대 공급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HTWO 광저우: 18톤 수소 중형트럭 200대 납품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친링모터스: 신장 하미시, 세계 최대 수소 상용차 시범 프로젝트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수소충전소 인프라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2024년 누적 540개소 (세계 최다) | 광둥 68개, 산둥/저장 각 20개+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Sinopec: 1,000개소 건설 목표 | 13개 성/시가 10개+ 보유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화물 운송 회랑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20개+ 주요 회랑에서 200대+ 운행, 40개+ 충전소 지원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미국 vs 중국 연료전지 경쟁 구도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13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비교 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미국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중국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전략 방향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원천기술 + 고부가가치
(데이터센터, 군사)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대규모 보급 + 비용절감
(상용차 중심)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수소충전소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~51개 (95% 캘리포니아)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~540개 (세계 최다)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FCV 보유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소규모 (캘리포니아 중심)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~30,000대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핵심 기술력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SOFC/PEMFC 원천기술
촉매/MEA 선도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핵심부품 국산화 70%
비용 절감 우위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대표 기업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Bloom Energy, Plug Power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SinoHytec, Refire, Weichai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주요 강점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원천기술, 군사, AI DC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대규모 보급, 인프라, 정책 일관성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주요 약점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인프라 부족, 정책 불확실성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기술 내구성, 핵심소재 수입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연료전지 시장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56032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발전용 연료전지
1,036MW
세계 1위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수소차 등록
4만 대 돌파
넥쏘 점유율 42.9%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60320" cy="1645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국내 시장 전망
2030년
2.5조 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371600"/>
            <a:ext cx="2560320" cy="1645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건물용 시장
2030년
3.86조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발전용 연료전지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세계 최초 1GW 돌파 | 2021년 142.3MW 설치, 세계 시장 45% 점유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수소차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현대 넥쏘 2025년 6,861대 판매 (+78.9%) | 신형 넥쏘 월 1,000대+ 출고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수소버스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2024년 1,000대+ 신규 보급 (전년 대비 277% 급증) | 2025년 목표 2,000대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수소경제 정책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15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03504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정책명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활성화 로드맵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2019.1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2040년 FCEV 620만대, 충전소 1,200기, 발전 15GW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수소법 (세계 최초)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2020.2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육성 및 수소 안전관리 법률 제정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이행 기본계획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2030 수소 390만톤, 2050 2,790만톤 공급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 인증제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청정수소발전 입찰시장 개설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CHPS (의무화제도)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2024~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RPS에서 수소 연료전지 분리, 별도 의무 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전력수급기본계획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2027~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연간 200MW(~2030) → 150MW(~2036) → 100MW 증설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주요 연료전지 기업 생태계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16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역할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실적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현대자동차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FCEV (넥쏘, XCIENT), HTWO 시스템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수소차 1위 (42.9%)
2030년 70만기 판매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PAFC + SOFC 발전용 연료전지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SOFC 양산 개시 (군산 50MW)
2026 매출 6,530억원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블룸SK퓨얼셀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SOFC 국내 생산 (블룸에너지 JV)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구미 공장 준공
데이터센터 330kW 설치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SK E&amp;S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 생산-유통-충전 밸류체인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액화수소충전소 17개소 운영
2026년 30개소+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효성그룹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충전시스템 1위 + 탄소섬유 + 액화수소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린데 합작 세계최대 액화수소 플랜트
탄소섬유 1조원 투자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한화솔루션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(PEM/AEM 수전해)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평창 연 290톤 그린수소
2.8조원 투자 계획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범한퓨얼셀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PEMFC (선박, 잠수함, 충전소)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군수 방산 기술 보유
충전소 매출 +207%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연료전지 R&amp;D 핵심 성과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17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2560320"/>
                <a:gridCol w="210312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연구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게재지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KAIST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촉매 열화 과정 원자 단위 3D 추적 (세계 최초)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Nature Comm.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2025.8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KAIST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백금-아연 나노입자 촉매 (백금 사용량 1/3 절감)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Chem. Eng. J.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2025.2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KAIST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이리듐 나노시트 촉매 (상용 대비 성능 13배 향상)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ACS Nano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2025.12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KIST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친환경 수소 연료전지 성능·효율 증대 핵심 원리 규명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KIER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고효율 연료전지용 1kW급 스택 제작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2024-2025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중저온(600°C) SOFC 양산 | 61.7% 발전효율 8kW SOFC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KGS 인증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특허: 수전해 기술 — 중국 30% &gt; 독일 20% &gt; 일본 18% &gt; 미국 11% &gt; 한국 10% (5위)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한국 PCT 국제특허출원 세계 4위 (5년 연속)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수소 인프라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수소충전소 현황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현황/목표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2025.3 운영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407기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2027년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550기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2030년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660기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2040년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1,200기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371600"/>
            <a:ext cx="539496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수소 생산 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4C3C"/>
                </a:solidFill>
                <a:latin typeface="맑은 고딕"/>
              </a:rPr>
              <a:t>전체 수소 생산의 90%+ = 그레이수소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천연가스 개질: 수소 1톤 → CO2 10톤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그린수소 가격: 5,200~6,500원/kg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한화솔루션: 평창 연 290톤 생산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수전해 기지: 전북 부안, 강원 평창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수소 공급 목표: 2030년 390만톤 → 2040년 526만톤 → 2050년 2,790만톤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저장·운송: 효성-린데 세계최대 액화수소 플랜트 | K-조선 액화수소 운반선 개발 | 탄소섬유 수소탱크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연료전지 분야 강점과 약점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강점 (Strengths)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발전용 연료전지 세계 1위 (1GW+)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현대 넥쏘 수소차 판매 세계 1위 (42.9%)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세계 최초 수소법 제정 (2020)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세계 최초 청정수소발전 입찰시장 (2024)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대기업 대규모 투자 (현대·SK·한화·효성·두산)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KAIST 등 세계적 연구 성과 (Nature 게재)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생산-저장-운송-활용 통합 밸류체인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수소버스 2024년 1,000대+ 신규 보급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약점 (Weaknesses)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MEA·촉매·전해질막 핵심 부품 수입 의존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CHPS 입찰 흥행 실패 (계획의 11.8%)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수소 생산의 90%+가 그레이수소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그린수소 5,200~6,500원/kg 경제성 부족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충전소 407기, 수소차 4만대 대비 부족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수전해·수소액화 등 선도국과 7년+ 격차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SOFC 내구성 (스택 교체주기 짧음)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  수소차 연간 수천 대, 대중화에는 아직 거리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최근 기술 혁신 및 비용 절감 트렌드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촉매 기술 혁신 — 백금 의존도 탈피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1990년대 대비 kW당 백금 사용량 90% 감소 | DOE 목표: 0.10 g/kW 미만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PGM-free 촉매: Fe-N-C 0.85 W/cm² | 코발트 기반 4배 내구성 | Fe-Cu 302 mW/cm²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워싱턴대 (2026.2): CVD 기법으로 철 촉매 내구성 획기적 개선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47472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현재 수준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 생산 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$4~6/kg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$1/kg (2031)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시스템 (수송용)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$80~100/kW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$80/kW (2030)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전해조 시스템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~$400/kW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$250/kW (2026)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백금 촉매 비용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$6.80/kW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$4.18/kW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0" y="3474720"/>
            <a:ext cx="2926080" cy="25603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AI 데이터센터
전력 혁명
2030년까지
DC 38%가
온사이트 발전
SOFC가
그리드 우회 솔루션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[한국] 글로벌 시장에서의 위상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21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12064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분야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한국의 위상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발전용 연료전지 설치량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1위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1,036MW (1GW 돌파)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수소전기차 판매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1위 (현대차)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점유율 42.9%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수소차 보유 대수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2위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누적 4만대 (중국 다음)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수소법 제정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2020년 시행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청정수소발전 입찰시장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2024년 개설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수전해 특허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5위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전체의 10%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수소충전소 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3~4위권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407기 (2025.3)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수소차 + 발전용 연료전지 양 축에서 세계 선두 | 단, 수전해·저장·운송·핵심소재는 선도국 대비 7년+ 격차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결론 및 향후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C71"/>
                </a:solidFill>
                <a:latin typeface="맑은 고딕"/>
              </a:rPr>
              <a:t>글로벌: 연평균 20~27% 성장, 2030년 수백억 달러 규모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AI 데이터센터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SOFC 대규모 배치가 시장 판도 변화의 게임체인저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상용차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66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수소 트럭·버스 보급 가속화, PEMFC 수요 견인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한국의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89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2040년 연 43조원 부가가치, 42만개 일자리 창출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39C12"/>
                </a:solidFill>
                <a:latin typeface="맑은 고딕"/>
              </a:rPr>
              <a:t>한국 5대 핵심 과제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20116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핵심 소재·부품 국산화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760720"/>
            <a:ext cx="20116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그린수소 전환 가속화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760720"/>
            <a:ext cx="20116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정책 안정성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5760720"/>
            <a:ext cx="20116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인프라 확충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5760720"/>
            <a:ext cx="20116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기술 격차 해소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