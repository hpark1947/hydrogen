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맑은 고딕"/>
              </a:rPr>
              <a:t>수소자동차 시장 현황과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5ED"/>
                </a:solidFill>
                <a:latin typeface="맑은 고딕"/>
              </a:rPr>
              <a:t>세계·한국·BEV 비교 종합분석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맑은 고딕"/>
              </a:rPr>
              <a:t>2026. 02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목차 (Table of Contents)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371600" cy="7315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세계 수소차 시장 현황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글로벌 판매 추이, 국가별 보급, 주요 모델, 충전 인프라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37160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23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시장 전망 및 정책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시장 전망, 정부 정책, 상용차·기타 모빌리티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3716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83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핵심 기술 발전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스택·촉매 기술, 비용·저장 혁신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13716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343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한국 시장 심층분석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시장 현황, 인프라, 정책, 기업 생태계, 글로벌 위상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3716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Part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3035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맑은 고딕"/>
              </a:rPr>
              <a:t>BEV vs FCEV 비교 및 결론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사양·TCO·환경성, 시나리오 분석, 전략 권고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세계 수소자동차 시장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3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371600"/>
                <a:gridCol w="13716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글로벌 판매량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전년 대비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누적 등록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이슈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2020년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~9,000대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코로나19, 한국 수소법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2021년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~16,000대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+78%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~4.6만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미라이 2세대 출시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2022년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+25%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~6.6만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한국/중국 주도 성장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2023년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~14,000대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-30%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~8만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보조금 변화, 경기 둔화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~16,011대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+14%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~9.6만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현대차 회복, 미라이↓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2025년(추정)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+25%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~11.6만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넥쏘 2세대 효과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0" y="1371600"/>
            <a:ext cx="320040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BEV와의 규모 격차
2024년 기준 약 850배
FCEV ~0.02% vs BEV ~18%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743200"/>
            <a:ext cx="3200400" cy="11887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FCEV 시장 특성
연 1~2만 대 정체
극소 니치(niche) 영역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114800"/>
            <a:ext cx="320040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BEV: 310만→1,380만 대
5년간 4.5배 성장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주요 국가별 FCEV 보급 현황 (2025년)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4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46304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국가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누적 등록 대수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세계 비중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~40,000대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세계 유일 성장 시장, 넥쏘 단일 모델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~30,000대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~26%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버스/트럭 상용차 중심, 부품 국산화율 70%+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미국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~12,283대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~11%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캘리포니아 편중, 충전소 51개, 정책 불확실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일본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~8,000대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미라이 중심, 판매 둔화(-39.1%)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유럽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상용차/버스 전환, BMW-도요타 협력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~20,000대+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~17%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한국: 넥쏘 글로벌 판매 6,861대(+78.9%), 시장점유율 42.9% 세계 1위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중국: 에너지법에 수소 공식 분류, 연료전지 특허 글로벌 69% 장악, 비용 연 33% 하락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74C3C"/>
                </a:solidFill>
                <a:latin typeface="맑은 고딕"/>
              </a:rPr>
              <a:t>미국: 트럼프 행정부 IRA 45V 단축(10년→2년), H2Hub 22억$ 취소, FY2026 수소 예산 $0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주요 모델: 현대 넥쏘 2세대 vs 도요타 미라이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현대 넥쏘 2세대 (2025년 출시)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사양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시스템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2.5세대 (110kW, 실사용 94kW)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모터 출력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201~255마력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주행거리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약 720km (기록 ~1,400km)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충전 시간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약 5분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V2L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외부 전원 공급 지원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가격(한국)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~7,200만 원 (보조금 후 ~3,950만 원)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도요타 미라이 2세대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5544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사양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출력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128kW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주행거리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850km+(WLTP), 기네스 1,360km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구동 방식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후륜구동(FR)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가격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$50,000~$67,000(미국)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판매 추이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2024년 -39.1% 감소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029200"/>
            <a:ext cx="502920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넥쏘: 글로벌 점유율 42.9% (세계 1위)
양산 — 유럽형 2025.8 / 북미형 2025.11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5029200"/>
            <a:ext cx="54864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미라이: 점유율 7.3%로 하락
도요타 3세대 스택(5.4 kW/L) 2026년 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기타 주요 모델 및 개발 중단/철수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기타 주요 FCEV 모델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제조사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iX5 Hydrogen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BMW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도요타 FC, 295kW, 2028년 양산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CR-V e:FCEV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혼다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GM 공동개발, EPA 435km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XCIENT Fuel Cell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현대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대형트럭, 180kW 듀얼, 725km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74C3C"/>
                </a:solidFill>
                <a:latin typeface="맑은 고딕"/>
              </a:rPr>
              <a:t>개발 중단/철수 사례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8404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제조사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Stellantis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 중단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인프라 부족, 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Nikola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Chapter 11 파산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95대 리콜, 과대 약속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Mercedes-Benz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GLC F-CELL 단종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승용 BEV 전략 집중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554480"/>
            <a:ext cx="53035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제조사 전략 양극화
BEV 올인: 테슬라, BYD, 폭스바겐
BEV+FCEV 병행: 현대, 도요타, BMW, 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30352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Nikola 파산의 교훈
수소 트럭 상용화의 어려움
과대 약속의 위험성 시사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46320"/>
            <a:ext cx="530352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BMW-도요타 협력
2028년 양산형 수소차 출시 계획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글로벌 수소 충전 인프라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7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7432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국가/지역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충전소 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~540개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최다, 상용차 중심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~407기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세계 2위, 2030년 660기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일본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~160개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2030년 1,000기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독일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~100개+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유럽 최대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미국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~51개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캘리포니아 편중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기타 유럽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~120개+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프랑스, 네덜란드 등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전 세계 합계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~1,200개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EV 대비 1:2,000~3,000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충전소 경제성 비교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55448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수소 충전소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EV 급속 충전소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설치 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30~50억 원/기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5,000만~1억 원/기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비용 차이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30~100배 저렴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수익성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대부분 만성 적자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가동률 따라 흑자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3657600"/>
            <a:ext cx="484632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최대 장벽
충전소 설치비 30~50억 원
EV 대비 30~100배 비쌈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937760"/>
            <a:ext cx="4846320" cy="914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전 세계 ~1,200개
EV 충전소(수백만 기) 대비 극히 미미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세계 수소차 시장 전망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연료전지 전체 시장 규모 전망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조사기관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2030년 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CAGR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Grand View Research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369.8억 달러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27.1%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MarketsandMarkets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181.6억 달러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26.3%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Wissen Research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210억 달러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25.0%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MarkNtel Advisors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81.3억 달러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20.4%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FCEV 보급 전망 — 기관별 시나리오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2030년 FCEV 비중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IEA NZE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넷제로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전체 EV의 0.2~0.5%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BloombergNEF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신차의 0.22%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McKinsey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가속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대형 상용차 15~25%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IRENA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1.5도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2050년 장거리 30%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Hydrogen Council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가속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500만 대+(2030)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554480"/>
            <a:ext cx="530352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상용차 — 진정한 성장 동력
CAGR 47.7% (2025~2032)
대형 트럭/버스가 핵심 영역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3035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승용차 FCEV 점유율
1% 미만에 머물 전망
대형 상용차가 핵심 성장 영역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46320"/>
            <a:ext cx="530352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McKinsey 전망
2040년 장거리 트럭
수소 소비 ~80 Mtpa
모빌리티 최대 수요처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주요국 정부 정책 및 보조금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9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743200"/>
                <a:gridCol w="374903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국가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정책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FCEV 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보조금 수준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로드맵, 수소법(세계 최초)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2030년 18만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~3,250만 원(세계 최고)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일본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수소기본전략(세계 최초, 2017)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2030년 80만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~200~300만 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수소산업 중장기 계획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 5만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시범도시 16억 위안/년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미국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IRA, H2Hubs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정량 목표 부재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45V: $3/kg 세액공제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EU/독일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REPowerEU, H2 Kernnetz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~7,000~9,000유로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74C3C"/>
                </a:solidFill>
                <a:latin typeface="맑은 고딕"/>
              </a:rPr>
              <a:t>정책 리스크 요인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미국: IRA 45V 기간 10년→2년 단축, H2Hub 2개 22억$ 취소, FY2026 수소 예산 $0 제안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한국: 청정수소발전 입찰시장 낙찰률 11.5% 참패, CHPS 폐기론 대두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EU: REPowerEU FID 전환율 4%, 수전해 목표 40GW 대비 운영 중 385MW(1%)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중국: 지방정부 보조금 변동, 과잉 투자 우려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상용차 시장 동향 — 트럭 &amp; 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현대 XCIENT Fuel Cell (대형 트럭)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사양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쌍 90kW 스택, 총 180kW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주행거리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1회 충전 725km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 탱크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10개, 총 68kg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유럽 배치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165대, 누적 2,000만km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북미 배치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63대, ~160만km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수상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TIME '2025 최고의 발명'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0" y="1371600"/>
            <a:ext cx="576072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수소 버스 — 한국: 누적 2,066대(+277%), 2030년 21,200대 목표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468880"/>
            <a:ext cx="576072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중국: 세계 최대(수천 대) | 유럽: 2025 상반기 279대(+426%)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474720"/>
            <a:ext cx="57607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상용차 시장 전망
CAGR 47.7% (2025~2032)
Deloitte: 2035년 대형 트럭 FCEV 15~25%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846320"/>
            <a:ext cx="576072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교훈: Nikola 파산(2025.2, Chapter 11)
수소 트럭 95대 리콜, 과대 약속의 위험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기타 수소 모빌리티 — 선박·항공·열차·지게차·잠수함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11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선박
Viking Libra 수소 크루즈선
6MW PEM(2026년)
한화에어로 200kW 선박용 FC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항공
ZeroAvia ZA600(600kW)
2027년 인증 목표
Airbus ZEROe(2035년)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열차
Alstom Coradia iLint
세계 최초 수소열차
2022년 독일 상업 운행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356616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지게차
Amazon 15,000대+
Walmart 9,500대+
빠른 충전, 냉동창고 적합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566160" cy="2286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잠수함
범한퓨얼셀 AIP용 PEMFC
장보고-III급
100% 국산화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31920"/>
            <a:ext cx="3566160" cy="2286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■ 트랙터/드론
현대차 수소전기 트랙터
수소 드론 스타트업
배터리 대비 3~5배 체공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핵심 기술: 스택 출력밀도 &amp; 촉매 혁신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스택 출력밀도 세대별 향상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10972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제조사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세대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출력밀도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현대차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2.5세대(넥쏘 2)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~3.5 kW/L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현대차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3세대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5.0+ kW/L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2027년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도요타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2세대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4.4 kW/L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2020년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도요타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3세대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5.4 kW/L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2026년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중국 SynStack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GIII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4.5+ kW/L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현대차 3세대 스택 목표 (2027년)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5544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2세대(넥쏘1)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2.5세대(넥쏘2)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3세대(개발중)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2018년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2027년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스택 출력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95kW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110kW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100/200kW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내구성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~16만km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50만km+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가격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50%+ 인하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촉매 기술 혁신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백금 사용량: 1990년대 대비 kW당 90% 감소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DOE 2025 목표: 0.10 g/kW 미만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PGM-free 촉매(Fe-N-C): 0.85 W/cm² 달성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KAIST: 백금-아연 나노입자로 1/3 절감(2025)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비용 추이 &amp; 수소 저장 기술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연료전지 시스템 비용 추이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현재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$80~100/kW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2030년 DOE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$80/kW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장기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$35/kW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수소 저장 기술 현황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현재 표준: 700bar 고압 기체(Type IV 탱크)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효성첨단소재 TANSOM: 2028년까지 1조 원 투자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일진하이솔루스/코오롱스페이스웍스: Type IV 수소 탱크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576072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비용 혁신 로드맵
$80~100/kW → $35/kW
가격이 내연기관 수준에 도달하면
FCEV 시장 급성장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017520"/>
            <a:ext cx="5760720" cy="11887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중국 비용 혁신
비용 연간 33% 하락
부품 국산화율 70%+
급격한 가격 경쟁력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480560"/>
            <a:ext cx="576072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탄소섬유 국산화
효성 TANSOM — 고압 수소탱크 핵심 소재
2028년까지 1조 원 투자 계획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수소자동차 시장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14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188720"/>
                <a:gridCol w="13716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신규 판매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전년 대비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누적 등록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2019년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~4,200대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~5,000대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넥쏘 본격 판매 시작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2020년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~5,800대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+38%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~10,000대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코로나에도 성장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2021년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~8,500대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+47%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~19,000대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최대 판매 기록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2022년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~10,800대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+27%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~29,000대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보조금 축소에도 성장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2023년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~3,800대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-65%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~33,000대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넥쏘 1세대 노후화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2024년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~3,700대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-3%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~38,000대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2세대 출시 대기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~6,861대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+78.9%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~40,000대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넥쏘 2세대 효과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71600"/>
            <a:ext cx="347472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로드맵 목표 달성률
2022년 목표 8.1만 대 대비
실적 ~2.9만 대
달성률 약 23%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47472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넥쏘 글로벌 판매
6,861대(+78.9%)
한국 6,802대 / 해외 ~59대
해외 비중 극히 제한적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14800"/>
            <a:ext cx="3474720" cy="11887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해외 판매 부진 이유
충전 인프라 절대 부족
BEV 대비 가격 경쟁력 열위
캘리포니아 외 보급 전무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 충전 인프라 — 현황 및 수익성 위기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충전소 현황 및 목표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충전소 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2019년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~30기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초기 단계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2022년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~170기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목표 310기 대비 55%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2024년 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386기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목표 385기 달성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2025년 3월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407기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운영 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2030년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660기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74C3C"/>
                </a:solidFill>
                <a:latin typeface="맑은 고딕"/>
              </a:rPr>
              <a:t>충전소 수익성 위기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1기 설치비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30~50억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평균 가동률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20~25%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일 평균 충전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4대에 불과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흑자 충전소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전국 7곳뿐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 판매가(2025.7)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10,239원/kg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하이넷 4년 누적 적자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166억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43600" y="1371600"/>
            <a:ext cx="5760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충전 인프라 주요 기업
효성중공업: 시장점유율 1위, 액화수소충전소 21개 계획
SK E&amp;S: 2026년까지 30개소(현재 17개소)
하이넷: 만성 적자(4년 166억 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017520"/>
            <a:ext cx="576072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수소 가격 지속 인상
2021년 8,000원/kg → 2025년 10,239원/kg
km당 비용: FCEV 100~120원 vs BEV 40~60원
FCEV가 BEV의 약 2배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663440"/>
            <a:ext cx="576072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BEV 충전기 수만 기 vs 수소 407기
비율 1:100 이상
인프라 격차 해소가 최대 과제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 정책 프레임워크 &amp; 보조금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정부 정책 프레임워크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5603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정책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활성화 로드맵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2019.1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수소차/연료전지 중심 초기 전략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수소법(세계 최초)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2020.2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육성 및 안전관리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제1차 수소경제 이행 계획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2021.11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 중심 전환, 탄소중립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청정수소발전 입찰시장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2024.5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최초(낙찰률 11.5% 실패)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CHPS 제도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수소발전 의무화(폐기론 대두)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보조금 비교: 넥쏘 vs BEV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01168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넥쏘 2세대(FCEV)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EV6 등(BEV)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차량 가격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~7,200만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~5,000만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국비 보조금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~2,250만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~780만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지자체 보조금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~1,000만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실구매가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~3,950만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~3,820만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보조금 없을 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7,200만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5,000만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0" y="1371600"/>
            <a:ext cx="48463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2030/2050 수치 목표
수소차 18만 대 / 충전소 660기(2030)
수소차 620만 대 / 충전소 1,200기(2040)
수소 공급 2,790만 톤(2050)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017520"/>
            <a:ext cx="484632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보조금 의존 구조
보조금 없으면 수소차는
BEV 대비 44% 비싸
시장 자생력 부재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63440"/>
            <a:ext cx="484632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R&amp;D 예산 감소
2023년 3,339억 원
→ 2025년 2,611억 원
2년 연속 감소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대기업 그룹 수소 투자 규모 (2030년까지)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17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65760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기업 그룹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투자 규모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주요 분야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SK 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18.5조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 생산/유통/충전/SOFC 발전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현대차그룹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11.1조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FCEV, HTWO 시스템, 인프라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포스코 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~10조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수소환원제철, 수소 생산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한화 그룹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수조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수전해, 그린수소, 태양광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효성 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1조 원+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액화수소, 탄소섬유, 충전시스템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5개 그룹 합산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~43.4조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 밸류체인 전 분야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71600"/>
            <a:ext cx="3474720" cy="18288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현대 HTWO 전략
2030년 70만 기 FC 판매 목표
중국 광저우 해외 첫 공장
2025.6 현대모비스 FC사업 인수
R&amp;D→생산 원스톱 체제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474720"/>
            <a:ext cx="347472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HTWO Energy Savannah
Class-8 대형트럭 전용
수소+전기 복합 충전 스테이션
(업계 최초)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5029200"/>
            <a:ext cx="347472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5대 그룹 총 ~43.4조 원
수소 밸류체인 전 분야 투자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수소차 밸류체인 &amp; 핵심부품 국산화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밸류체인별 주요 기업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수소 생산: SK E&amp;S(블루수소, 보령 연 25만톤), 한화솔루션(수전해)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수소 저장: 효성첨단소재(TANSOM), 일진하이솔루스(Type IV), 가드넥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FC 스택: 현대차(PEMFC 차량용), 두산(PAFC/SOFC), 블룸SK(SOFC)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핵심 부품: 코오롱(전해질막, 국내 유일), 케이퓨얼셀(분리판, 원가 70%↓)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핵심 부품: 에프씨엠티(MEA 연 20만장), 제이앤티지(GDL 최초 상용화)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스타트업: 에스퓨얼셀(건물용 50%+), 미코파워(독자 SOFC), 엘켐텍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74C3C"/>
                </a:solidFill>
                <a:latin typeface="맑은 고딕"/>
              </a:rPr>
              <a:t>핵심부품 국산화율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720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</a:tblGrid>
              <a:tr h="23513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부품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국산화율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평가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전해질막(PEM)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10~20%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심각 미흡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촉매(Pt/C)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10~15%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심각 미흡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MEA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20~30%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미흡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GDL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50~60%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양호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분리판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60~70%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양호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351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BOP 부품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70~80%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양호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1371600"/>
            <a:ext cx="530352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소재 격차
전해질막(10~20%), 촉매(10~15%)
선도국 대비 5~7년 격차
공급망 리스크 노출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3035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중국의 급추격
부품 국산화율 70%+
연료전지 특허 글로벌 69% 장악
비용 연 33% 하락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530352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범한퓨얼셀
잠수함 AIP용 PEMFC
100% 국산화 성공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한국의 글로벌 위상 — 분야별 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19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7432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분야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한국의 위상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수소전기차 판매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1위(현대차)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점유율 42.9%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수소차 보유 대수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2위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누적 ~4만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 대형트럭 해외 배치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1위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XCIENT 228대+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수소버스 보급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최상위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2,066대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발전용 연료전지 설치량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1위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1,036MW(1GW 돌파)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수소법 제정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2020년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수소충전소 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세계 2위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407기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71600"/>
            <a:ext cx="347472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충전 인프라 부족
407기 vs BEV 수만 기
km당 비용 BEV의 2배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47472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그린수소 확보 문제
90%+ 그레이수소
2030년 청정수소 74% 수입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14800"/>
            <a:ext cx="3474720" cy="914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경제성 미확보
보조금 없이 자생력 부재
R&amp;D 예산 2년 연속 감소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212080"/>
            <a:ext cx="347472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BEV 경쟁 압박
승용: BEV 20만 vs FCEV 6,800
비율 약 1:30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BEV vs FCEV — 핵심 사양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20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비교 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유리한 쪽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에너지 효율(WtW)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25~35%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70~90%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1회 충전 주행거리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500~720km+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300~600km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충전 시간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3~5분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급속 20~40분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차량 중량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상대적 경량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배터리 400~800kg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저온 성능(-30°C)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거의 유지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20~40% 감소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차량 가격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7,000~8,000만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4,000~6,000만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km당 에너지 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100~120원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40~60원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충전 인프라 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~1,200개소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수백만 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0" y="1371600"/>
            <a:ext cx="3200400" cy="18288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에너지 효율 핵심
FCEV: 최종 18~32%
BEV: 최종 64~77%
동일 재생에너지로
BEV가 2~3배 더 많은
주행거리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474720"/>
            <a:ext cx="320040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FCEV 강점
충전 3~5분
주행거리 720km+
저온 성능 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5029200"/>
            <a:ext cx="32004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BEV 강점
효율 2~3배 / 비용 절반
인프라 압도적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TCO(총소유비용) &amp; 환경성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승용차 TCO 비교 — 10년/15만km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내연기관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차량 구입(보조금 후)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~3,950만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~3,820만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~3,500만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연료/전기(10년)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~1,800만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~600만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~2,000만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유지보수(10년)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~350만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~230만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~700만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보험(10년)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~380만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~380만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~400만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10년 TCO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~6,480만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~4,650만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~6,600만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Well-to-Wheel CO₂ 배출량 (g/km)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9768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18872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내연기관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그레이수소+화석전기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180~200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100~150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~200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블루수소+평균전력망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80~120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50~80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그린수소+재생에너지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0~10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0~5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0" y="1371600"/>
            <a:ext cx="484632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TCO 결론
BEV가 FCEV 대비 약 28% 저렴
연료비 격차가 핵심
(600만 vs 1,800만 원/10년)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017520"/>
            <a:ext cx="484632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대형 트럭 — FCEV 역전 가능
McKinsey: 2030년 이후
장거리 대형 트럭 TCO 동등/유리
배터리 4~8톤→화물 20~30%↓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63440"/>
            <a:ext cx="4846320" cy="11887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환경성 현실
수소 99% 그레이수소
현 상태에서 BEV가 유리
그린수소 전환이 관건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용도별 최적 기술 — BEV vs FCEV 역할 분담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22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6576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최적 기술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도심 승용차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짧은 통근, 가정 충전, 비용 효율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택시/라이드헤일링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빠른 충전, 장시간 운행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시내버스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BEV/FCEV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노선 길이에 따라 혼용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장거리 고속버스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주행거리, 충전 시간 우위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소형 배송 트럭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도심 단거리, 야간 충전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대형 장거리 트럭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페이로드, 주행거리, 충전시간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물류 지게차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24시간 가동, 2분 충전, 냉동창고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선박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FCEV/수소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장기 항해, 대용량 에너지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항공기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FCEV/e-Fuel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에너지밀도 우위 필수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71600"/>
            <a:ext cx="3474720" cy="2286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BEV 영역
도심 승용차
소형 배송 트럭
단거리·소형 차량
→ BEV가 절대 우위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FCEV 영역
대형 트럭 / 고속버스
택시 / 지게차
선박 / 항공
→ FCEV가 비교우위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BEV vs FCEV — 글로벌 판매 전망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글로벌 판매 전망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8288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2025년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2030년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2035년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BEV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~1,700만 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~3,500~4,000만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신차 60~75%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FCEV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~2만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~20만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~60만 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BEV/FCEV 비율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850:1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175~200:1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100:1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383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기관별 전망 요약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65760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5544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BEV 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FCEV 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메시지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IEA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EV의 95%+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승용 0.2~0.5%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수소는 비전기화 분야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BNEF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신차 42~58%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신차 0.22%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승용 FCEV 경쟁 불가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McKinsey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승용 주도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트럭 15~25%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상용차 TCO 경쟁적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IRENA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소형차 주류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장거리 30%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맑은 고딕"/>
                        </a:rPr>
                        <a:t>1.5°C에 수소 필수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제조사 전략 분류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74C3C"/>
                </a:solidFill>
                <a:latin typeface="맑은 고딕"/>
              </a:rPr>
              <a:t>BEV 올인(수소 거부)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테슬라, BYD, 폭스바겐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맑은 고딕"/>
              </a:rPr>
              <a:t>BEV 중심 + 수소 유보/철수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GM, Ford, Stellantis(중단)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CC71"/>
                </a:solidFill>
                <a:latin typeface="맑은 고딕"/>
              </a:rPr>
              <a:t>BEV + FCEV 병행(가장 적극적)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현대차(넥쏘+XCIENT+HTWO)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도요타(미라이+BMW 협력)</a:t>
            </a:r>
          </a:p>
          <a:p>
            <a:pPr lvl="1"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BMW(2028 양산), 혼다(150kW FC)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공존 vs 경쟁 시나리오 — BEV &amp; FCEV의 미래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24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시나리오 A: 공존(보완 기술)
확률 60~70%
가장 유력한 시나리오
• 도심/단거리 승용:
  BEV 95%+ 주류
• 장거리/대형/고사이클:
  FCEV 15~25%
• 수소: 산업/발전/저장
  역할 분담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566160" cy="4572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시나리오 B: BEV 지배
확률 20~30%
FCEV 주변화 가능
• 전고체 배터리 상용화
  (2027~2030)
• 초급속 충전 보급
• 수소 인프라 투자 부족
• 선박/항공/산업 외
  거의 소멸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시나리오 C: FCEV 급성장
확률 5~10%
현실 가능성 낮음
• 그린수소 $1/kg 달성
• 연료전지 $30/kW 이하
• 대규모 인프라 투자
• 전체 신차 5~10%
  확대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FCEV 성패를 결정할 5대 핵심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25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현재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달성 시 영향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$3~8/kg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$1~2/kg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연료비 경쟁력 확보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비용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$80~100/kW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$35/kW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차량 가격 내연기관 수준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충전 인프라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~1,200개소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수만 개소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소비자 접근성 해소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스택 내구성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5,000~8,000시간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30,000시간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상용차 TCO 확보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정부 정책 일관성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불확실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장기 안정적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맑은 고딕"/>
                        </a:rPr>
                        <a:t>민간 투자 유치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5C"/>
                </a:solidFill>
                <a:latin typeface="맑은 고딕"/>
              </a:rPr>
              <a:t>전문가 합의 사항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720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60704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합의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승용차 시장은 BEV의 압도적 승리가 거의 확실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대형 상용차(트럭/버스)에서 FCEV의 역할이 존재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수소는 모빌리티를 넘어 산업/발전/저장 분야에서 필수적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2050 탄소중립 달성에 수소와 BEV 모두 필요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맑은 고딕"/>
                        </a:rPr>
                        <a:t>FCEV의 성패는 수소 비용 하락 속도에 달려 있음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한국에 대한 전략적 권고 — 5대 핵심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26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560320" cy="868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1. 승용 FCEV
보조금 점진적 축소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맑은 고딕"/>
              </a:rPr>
              <a:t>넥쏘 42.9% 점유율은 보조금 기반
장기 지속가능하지 않음
보조금 의존 구조에서 탈피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560320" cy="868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2. 대형 상용차
선택과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맑은 고딕"/>
              </a:rPr>
              <a:t>XCIENT 유럽/북미 2,000만km 실적
수소 트럭/버스 공격적 확대
글로벌 선두 + BEV 대비 비교우위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2560320" cy="8686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3. 핵심 소재
국산화 가속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맑은 고딕"/>
              </a:rPr>
              <a:t>전해질막 10~20%, 촉매 10~15%
해외 의존도 → 공급망 리스크
선도국 대비 5~7년 격차 해소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2560320" cy="868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4. 그린수소
전환 가속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맑은 고딕"/>
              </a:rPr>
              <a:t>수소 90%가 그레이수소
'친환경' 명분 성립 안 됨
수전해 기반 비중 확대 시급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2560320" cy="8686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5. K-조선·선박
시너지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9496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맑은 고딕"/>
              </a:rPr>
              <a:t>한국 조선 산업 + 수소 FC 결합
수소 선박 = 독자적 블루오션
한국만의 강점 발휘 영역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핵심 수치 대시보드 — 한눈에 보는 수소차 시장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27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2286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글로벌 FCEV 판매
2024년
~16,000대
(BEV의 0.1%)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넥쏘 글로벌 점유율
2025년
42.9%
세계 1위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71600"/>
            <a:ext cx="2651760" cy="2286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BEV vs FCEV
규모 격차
약 850배
(1,380만 vs 1.6만)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1371600"/>
            <a:ext cx="265176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수소 충전소
전 세계
~1,200개
(EV 수백만 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2651760" cy="2286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충전소 설치비
수소 vs EV
30~100배
비싸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931920"/>
            <a:ext cx="2651760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TCO 격차
승용 10년
BEV 28%
더 저렴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931920"/>
            <a:ext cx="2651760" cy="2286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5대 그룹
총 투자
~43.4조 원
(2030년까지)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3931920"/>
            <a:ext cx="265176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공존 시나리오
확률
60~70%
가장 유력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종합 결론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승용차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737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BEV의 확정적 승자 — FCEV는 0.5% 미만 니치 시장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대형 상용차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FCEV의 비교우위 영역 — 트럭/버스/선박에서 역할 존재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에너지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91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수소는 산업/발전/저장 분야에서 필수적 — 모빌리티 넘어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CC71"/>
                </a:solidFill>
                <a:latin typeface="맑은 고딕"/>
              </a:rPr>
              <a:t>"수소는 만능이 아니다. 그러나 수소 없이 탄소중립은 불가능하다."</a:t>
            </a:r>
          </a:p>
          <a:p>
            <a:pPr algn="ctr"/>
            <a:r>
              <a:rPr sz="1600" b="0">
                <a:solidFill>
                  <a:srgbClr val="BBD5ED"/>
                </a:solidFill>
                <a:latin typeface="맑은 고딕"/>
              </a:rPr>
              <a:t>BEV와 FCEV는 경쟁이 아닌 공존의 관계이며, 각 기술이 최적인 영역에서 역할을 분담하는 것이
2050 탄소중립을 향한 가장 현실적인 경로이다.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  <a:latin typeface="맑은 고딕"/>
              </a:rPr>
              <a:t>한국 전략: 승용 보조금 축소 → 대형 상용차 집중 → 핵심소재 국산화 → 그린수소 전환 → K-조선 시너지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